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Oval 1"/>
          <p:cNvSpPr/>
          <p:nvPr/>
        </p:nvSpPr>
        <p:spPr>
          <a:xfrm>
            <a:off x="822960" y="822960"/>
            <a:ext cx="640080" cy="64008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a:solidFill>
                  <a:srgbClr val="0B1F3A"/>
                </a:solidFill>
              </a:rPr>
              <a:t>☁</a:t>
            </a:r>
          </a:p>
        </p:txBody>
      </p:sp>
      <p:sp>
        <p:nvSpPr>
          <p:cNvPr id="3" name="TextBox 2"/>
          <p:cNvSpPr txBox="1"/>
          <p:nvPr/>
        </p:nvSpPr>
        <p:spPr>
          <a:xfrm>
            <a:off x="822960" y="2377440"/>
            <a:ext cx="10515600" cy="1097280"/>
          </a:xfrm>
          <a:prstGeom prst="rect">
            <a:avLst/>
          </a:prstGeom>
          <a:noFill/>
        </p:spPr>
        <p:txBody>
          <a:bodyPr wrap="square" lIns="0" rIns="0" tIns="0" bIns="0">
            <a:spAutoFit/>
          </a:bodyPr>
          <a:lstStyle/>
          <a:p>
            <a:pPr algn="l"/>
            <a:r>
              <a:rPr sz="5400" b="1" i="0">
                <a:solidFill>
                  <a:srgbClr val="FFFFFF"/>
                </a:solidFill>
                <a:latin typeface="Calibri"/>
              </a:rPr>
              <a:t>CloudGuardian</a:t>
            </a:r>
          </a:p>
        </p:txBody>
      </p:sp>
      <p:sp>
        <p:nvSpPr>
          <p:cNvPr id="4" name="TextBox 3"/>
          <p:cNvSpPr txBox="1"/>
          <p:nvPr/>
        </p:nvSpPr>
        <p:spPr>
          <a:xfrm>
            <a:off x="822960" y="3383280"/>
            <a:ext cx="10058400" cy="640080"/>
          </a:xfrm>
          <a:prstGeom prst="rect">
            <a:avLst/>
          </a:prstGeom>
          <a:noFill/>
        </p:spPr>
        <p:txBody>
          <a:bodyPr wrap="square" lIns="0" rIns="0" tIns="0" bIns="0">
            <a:spAutoFit/>
          </a:bodyPr>
          <a:lstStyle/>
          <a:p>
            <a:pPr algn="l"/>
            <a:r>
              <a:rPr sz="2200" b="0" i="1">
                <a:solidFill>
                  <a:srgbClr val="02C39A"/>
                </a:solidFill>
                <a:latin typeface="Calibri"/>
              </a:rPr>
              <a:t>AI-Driven Cloud Misconfiguration Detection and Remediation</a:t>
            </a:r>
          </a:p>
        </p:txBody>
      </p:sp>
      <p:sp>
        <p:nvSpPr>
          <p:cNvPr id="5" name="TextBox 4"/>
          <p:cNvSpPr txBox="1"/>
          <p:nvPr/>
        </p:nvSpPr>
        <p:spPr>
          <a:xfrm>
            <a:off x="822960" y="4389120"/>
            <a:ext cx="10058400" cy="457200"/>
          </a:xfrm>
          <a:prstGeom prst="rect">
            <a:avLst/>
          </a:prstGeom>
          <a:noFill/>
        </p:spPr>
        <p:txBody>
          <a:bodyPr wrap="square" lIns="0" rIns="0" tIns="0" bIns="0">
            <a:spAutoFit/>
          </a:bodyPr>
          <a:lstStyle/>
          <a:p>
            <a:pPr algn="l"/>
            <a:r>
              <a:rPr sz="1600" b="1" i="0">
                <a:solidFill>
                  <a:srgbClr val="F4F6F8"/>
                </a:solidFill>
                <a:latin typeface="Calibri"/>
              </a:rPr>
              <a:t>Capstone Defense — Individual Track (AWS)</a:t>
            </a:r>
          </a:p>
        </p:txBody>
      </p:sp>
      <p:sp>
        <p:nvSpPr>
          <p:cNvPr id="6" name="TextBox 5"/>
          <p:cNvSpPr txBox="1"/>
          <p:nvPr/>
        </p:nvSpPr>
        <p:spPr>
          <a:xfrm>
            <a:off x="822960" y="5852160"/>
            <a:ext cx="10058400" cy="548640"/>
          </a:xfrm>
          <a:prstGeom prst="rect">
            <a:avLst/>
          </a:prstGeom>
          <a:noFill/>
        </p:spPr>
        <p:txBody>
          <a:bodyPr wrap="square" lIns="0" rIns="0" tIns="0" bIns="0">
            <a:spAutoFit/>
          </a:bodyPr>
          <a:lstStyle/>
          <a:p>
            <a:pPr algn="l"/>
            <a:r>
              <a:rPr sz="1200" b="0" i="0">
                <a:solidFill>
                  <a:srgbClr val="6B7A8F"/>
                </a:solidFill>
                <a:latin typeface="Calibri"/>
              </a:rPr>
              <a:t>IIT Roorkee x Futurense | PG Certificate in AI/GenAI Powered Cybersecurity | Abhishek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3200" b="1" i="0">
                <a:solidFill>
                  <a:srgbClr val="0B1F3A"/>
                </a:solidFill>
                <a:latin typeface="Calibri"/>
              </a:rPr>
              <a:t>The Real-World Problem</a:t>
            </a:r>
          </a:p>
        </p:txBody>
      </p:sp>
      <p:sp>
        <p:nvSpPr>
          <p:cNvPr id="3" name="TextBox 2"/>
          <p:cNvSpPr txBox="1"/>
          <p:nvPr/>
        </p:nvSpPr>
        <p:spPr>
          <a:xfrm>
            <a:off x="640080" y="1371600"/>
            <a:ext cx="5486400" cy="4389120"/>
          </a:xfrm>
          <a:prstGeom prst="rect">
            <a:avLst/>
          </a:prstGeom>
          <a:noFill/>
        </p:spPr>
        <p:txBody>
          <a:bodyPr wrap="square" lIns="0" rIns="0" tIns="0" bIns="0">
            <a:spAutoFit/>
          </a:bodyPr>
          <a:lstStyle/>
          <a:p>
            <a:pPr algn="l">
              <a:lnSpc>
                <a:spcPct val="130000"/>
              </a:lnSpc>
            </a:pPr>
            <a:r>
              <a:rPr sz="1600" b="0" i="0">
                <a:solidFill>
                  <a:srgbClr val="1A1A1A"/>
                </a:solidFill>
                <a:latin typeface="Calibri"/>
              </a:rPr>
              <a:t>A health-tech scale-up keeps failing ISO 27001 audits.</a:t>
            </a:r>
          </a:p>
          <a:p>
            <a:pPr algn="l">
              <a:lnSpc>
                <a:spcPct val="130000"/>
              </a:lnSpc>
            </a:pPr>
            <a:r>
              <a:rPr sz="1600" b="0" i="0">
                <a:solidFill>
                  <a:srgbClr val="1A1A1A"/>
                </a:solidFill>
                <a:latin typeface="Calibri"/>
              </a:rPr>
              <a:t/>
            </a:r>
          </a:p>
          <a:p>
            <a:pPr algn="l">
              <a:lnSpc>
                <a:spcPct val="130000"/>
              </a:lnSpc>
            </a:pPr>
            <a:r>
              <a:rPr sz="1600" b="0" i="0">
                <a:solidFill>
                  <a:srgbClr val="1A1A1A"/>
                </a:solidFill>
                <a:latin typeface="Calibri"/>
              </a:rPr>
              <a:t>The same misconfigurations reappear every sprint:</a:t>
            </a:r>
          </a:p>
        </p:txBody>
      </p:sp>
      <p:sp>
        <p:nvSpPr>
          <p:cNvPr id="4" name="Oval 3"/>
          <p:cNvSpPr/>
          <p:nvPr/>
        </p:nvSpPr>
        <p:spPr>
          <a:xfrm>
            <a:off x="640080" y="2743200"/>
            <a:ext cx="411480" cy="41148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1</a:t>
            </a:r>
          </a:p>
        </p:txBody>
      </p:sp>
      <p:sp>
        <p:nvSpPr>
          <p:cNvPr id="5" name="TextBox 4"/>
          <p:cNvSpPr txBox="1"/>
          <p:nvPr/>
        </p:nvSpPr>
        <p:spPr>
          <a:xfrm>
            <a:off x="1234440" y="2770632"/>
            <a:ext cx="4389120" cy="365760"/>
          </a:xfrm>
          <a:prstGeom prst="rect">
            <a:avLst/>
          </a:prstGeom>
          <a:noFill/>
        </p:spPr>
        <p:txBody>
          <a:bodyPr wrap="square" lIns="0" rIns="0" tIns="0" bIns="0">
            <a:spAutoFit/>
          </a:bodyPr>
          <a:lstStyle/>
          <a:p>
            <a:pPr algn="l"/>
            <a:r>
              <a:rPr sz="1500" b="1" i="0">
                <a:solidFill>
                  <a:srgbClr val="1A1A1A"/>
                </a:solidFill>
                <a:latin typeface="Calibri"/>
              </a:rPr>
              <a:t>Public storage buckets</a:t>
            </a:r>
          </a:p>
        </p:txBody>
      </p:sp>
      <p:sp>
        <p:nvSpPr>
          <p:cNvPr id="6" name="Oval 5"/>
          <p:cNvSpPr/>
          <p:nvPr/>
        </p:nvSpPr>
        <p:spPr>
          <a:xfrm>
            <a:off x="640080" y="3337560"/>
            <a:ext cx="411480" cy="41148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2</a:t>
            </a:r>
          </a:p>
        </p:txBody>
      </p:sp>
      <p:sp>
        <p:nvSpPr>
          <p:cNvPr id="7" name="TextBox 6"/>
          <p:cNvSpPr txBox="1"/>
          <p:nvPr/>
        </p:nvSpPr>
        <p:spPr>
          <a:xfrm>
            <a:off x="1234440" y="3364992"/>
            <a:ext cx="4389120" cy="365760"/>
          </a:xfrm>
          <a:prstGeom prst="rect">
            <a:avLst/>
          </a:prstGeom>
          <a:noFill/>
        </p:spPr>
        <p:txBody>
          <a:bodyPr wrap="square" lIns="0" rIns="0" tIns="0" bIns="0">
            <a:spAutoFit/>
          </a:bodyPr>
          <a:lstStyle/>
          <a:p>
            <a:pPr algn="l"/>
            <a:r>
              <a:rPr sz="1500" b="1" i="0">
                <a:solidFill>
                  <a:srgbClr val="1A1A1A"/>
                </a:solidFill>
                <a:latin typeface="Calibri"/>
              </a:rPr>
              <a:t>Over-privileged IAM roles</a:t>
            </a:r>
          </a:p>
        </p:txBody>
      </p:sp>
      <p:sp>
        <p:nvSpPr>
          <p:cNvPr id="8" name="Oval 7"/>
          <p:cNvSpPr/>
          <p:nvPr/>
        </p:nvSpPr>
        <p:spPr>
          <a:xfrm>
            <a:off x="640080" y="3931920"/>
            <a:ext cx="411480" cy="41148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3</a:t>
            </a:r>
          </a:p>
        </p:txBody>
      </p:sp>
      <p:sp>
        <p:nvSpPr>
          <p:cNvPr id="9" name="TextBox 8"/>
          <p:cNvSpPr txBox="1"/>
          <p:nvPr/>
        </p:nvSpPr>
        <p:spPr>
          <a:xfrm>
            <a:off x="1234440" y="3959352"/>
            <a:ext cx="4389120" cy="365760"/>
          </a:xfrm>
          <a:prstGeom prst="rect">
            <a:avLst/>
          </a:prstGeom>
          <a:noFill/>
        </p:spPr>
        <p:txBody>
          <a:bodyPr wrap="square" lIns="0" rIns="0" tIns="0" bIns="0">
            <a:spAutoFit/>
          </a:bodyPr>
          <a:lstStyle/>
          <a:p>
            <a:pPr algn="l"/>
            <a:r>
              <a:rPr sz="1500" b="1" i="0">
                <a:solidFill>
                  <a:srgbClr val="1A1A1A"/>
                </a:solidFill>
                <a:latin typeface="Calibri"/>
              </a:rPr>
              <a:t>Unencrypted databases</a:t>
            </a:r>
          </a:p>
        </p:txBody>
      </p:sp>
      <p:sp>
        <p:nvSpPr>
          <p:cNvPr id="10" name="Oval 9"/>
          <p:cNvSpPr/>
          <p:nvPr/>
        </p:nvSpPr>
        <p:spPr>
          <a:xfrm>
            <a:off x="640080" y="4526280"/>
            <a:ext cx="411480" cy="41148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4</a:t>
            </a:r>
          </a:p>
        </p:txBody>
      </p:sp>
      <p:sp>
        <p:nvSpPr>
          <p:cNvPr id="11" name="TextBox 10"/>
          <p:cNvSpPr txBox="1"/>
          <p:nvPr/>
        </p:nvSpPr>
        <p:spPr>
          <a:xfrm>
            <a:off x="1234440" y="4553712"/>
            <a:ext cx="4389120" cy="365760"/>
          </a:xfrm>
          <a:prstGeom prst="rect">
            <a:avLst/>
          </a:prstGeom>
          <a:noFill/>
        </p:spPr>
        <p:txBody>
          <a:bodyPr wrap="square" lIns="0" rIns="0" tIns="0" bIns="0">
            <a:spAutoFit/>
          </a:bodyPr>
          <a:lstStyle/>
          <a:p>
            <a:pPr algn="l"/>
            <a:r>
              <a:rPr sz="1500" b="1" i="0">
                <a:solidFill>
                  <a:srgbClr val="1A1A1A"/>
                </a:solidFill>
                <a:latin typeface="Calibri"/>
              </a:rPr>
              <a:t>Missing logging</a:t>
            </a:r>
          </a:p>
        </p:txBody>
      </p:sp>
      <p:sp>
        <p:nvSpPr>
          <p:cNvPr id="12" name="Rounded Rectangle 11"/>
          <p:cNvSpPr/>
          <p:nvPr/>
        </p:nvSpPr>
        <p:spPr>
          <a:xfrm>
            <a:off x="6492240" y="1371600"/>
            <a:ext cx="5029200" cy="438912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l"/>
            <a:r>
              <a:rPr sz="1800" b="1">
                <a:solidFill>
                  <a:srgbClr val="02C39A"/>
                </a:solidFill>
              </a:rPr>
              <a:t>They need:</a:t>
            </a:r>
          </a:p>
          <a:p>
            <a:pPr>
              <a:spcBef>
                <a:spcPts val="1400"/>
              </a:spcBef>
            </a:pPr>
            <a:r>
              <a:rPr sz="1500">
                <a:solidFill>
                  <a:srgbClr val="FFFFFF"/>
                </a:solidFill>
              </a:rPr>
              <a:t>• Continuous CSPM (Cloud Security Posture Management)</a:t>
            </a:r>
          </a:p>
          <a:p>
            <a:pPr>
              <a:spcBef>
                <a:spcPts val="1400"/>
              </a:spcBef>
            </a:pPr>
            <a:r>
              <a:rPr sz="1500">
                <a:solidFill>
                  <a:srgbClr val="FFFFFF"/>
                </a:solidFill>
              </a:rPr>
              <a:t>• Safe auto-remediation for a small set of fixes</a:t>
            </a:r>
          </a:p>
          <a:p>
            <a:pPr>
              <a:spcBef>
                <a:spcPts val="1400"/>
              </a:spcBef>
            </a:pPr>
            <a:r>
              <a:rPr sz="1500">
                <a:solidFill>
                  <a:srgbClr val="FFFFFF"/>
                </a:solidFill>
              </a:rPr>
              <a:t>• A risk-prioritized backlog for everything else</a:t>
            </a:r>
          </a:p>
        </p:txBody>
      </p:sp>
      <p:sp>
        <p:nvSpPr>
          <p:cNvPr id="13" name="TextBox 12"/>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6B7A8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3200" b="1" i="0">
                <a:solidFill>
                  <a:srgbClr val="0B1F3A"/>
                </a:solidFill>
                <a:latin typeface="Calibri"/>
              </a:rPr>
              <a:t>What CloudGuardian Builds</a:t>
            </a:r>
          </a:p>
        </p:txBody>
      </p:sp>
      <p:sp>
        <p:nvSpPr>
          <p:cNvPr id="3" name="Rounded Rectangle 2"/>
          <p:cNvSpPr/>
          <p:nvPr/>
        </p:nvSpPr>
        <p:spPr>
          <a:xfrm>
            <a:off x="640080" y="1828800"/>
            <a:ext cx="3566160" cy="384048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828800"/>
            <a:ext cx="3566160" cy="73152"/>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48840"/>
            <a:ext cx="3017520" cy="548640"/>
          </a:xfrm>
          <a:prstGeom prst="rect">
            <a:avLst/>
          </a:prstGeom>
          <a:noFill/>
        </p:spPr>
        <p:txBody>
          <a:bodyPr wrap="square" lIns="0" rIns="0" tIns="0" bIns="0">
            <a:spAutoFit/>
          </a:bodyPr>
          <a:lstStyle/>
          <a:p>
            <a:pPr algn="l"/>
            <a:r>
              <a:rPr sz="1900" b="1" i="0">
                <a:solidFill>
                  <a:srgbClr val="0B1F3A"/>
                </a:solidFill>
                <a:latin typeface="Calibri"/>
              </a:rPr>
              <a:t>1. Build &amp; Break</a:t>
            </a:r>
          </a:p>
        </p:txBody>
      </p:sp>
      <p:sp>
        <p:nvSpPr>
          <p:cNvPr id="6" name="TextBox 5"/>
          <p:cNvSpPr txBox="1"/>
          <p:nvPr/>
        </p:nvSpPr>
        <p:spPr>
          <a:xfrm>
            <a:off x="914400" y="2788920"/>
            <a:ext cx="3017520" cy="2560320"/>
          </a:xfrm>
          <a:prstGeom prst="rect">
            <a:avLst/>
          </a:prstGeom>
          <a:noFill/>
        </p:spPr>
        <p:txBody>
          <a:bodyPr wrap="square" lIns="0" rIns="0" tIns="0" bIns="0">
            <a:spAutoFit/>
          </a:bodyPr>
          <a:lstStyle/>
          <a:p>
            <a:pPr algn="l">
              <a:lnSpc>
                <a:spcPct val="130000"/>
              </a:lnSpc>
            </a:pPr>
            <a:r>
              <a:rPr sz="1400" b="0" i="0">
                <a:solidFill>
                  <a:srgbClr val="1A1A1A"/>
                </a:solidFill>
                <a:latin typeface="Calibri"/>
              </a:rPr>
              <a:t>Deploy a real AWS 3-tier workload, then introduce 8 deliberate misconfigurations</a:t>
            </a:r>
          </a:p>
        </p:txBody>
      </p:sp>
      <p:sp>
        <p:nvSpPr>
          <p:cNvPr id="7" name="Rounded Rectangle 6"/>
          <p:cNvSpPr/>
          <p:nvPr/>
        </p:nvSpPr>
        <p:spPr>
          <a:xfrm>
            <a:off x="4526280" y="1828800"/>
            <a:ext cx="3566160" cy="384048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828800"/>
            <a:ext cx="3566160" cy="73152"/>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2148840"/>
            <a:ext cx="3017520" cy="548640"/>
          </a:xfrm>
          <a:prstGeom prst="rect">
            <a:avLst/>
          </a:prstGeom>
          <a:noFill/>
        </p:spPr>
        <p:txBody>
          <a:bodyPr wrap="square" lIns="0" rIns="0" tIns="0" bIns="0">
            <a:spAutoFit/>
          </a:bodyPr>
          <a:lstStyle/>
          <a:p>
            <a:pPr algn="l"/>
            <a:r>
              <a:rPr sz="1900" b="1" i="0">
                <a:solidFill>
                  <a:srgbClr val="0B1F3A"/>
                </a:solidFill>
                <a:latin typeface="Calibri"/>
              </a:rPr>
              <a:t>2. Detect &amp; Prioritize</a:t>
            </a:r>
          </a:p>
        </p:txBody>
      </p:sp>
      <p:sp>
        <p:nvSpPr>
          <p:cNvPr id="10" name="TextBox 9"/>
          <p:cNvSpPr txBox="1"/>
          <p:nvPr/>
        </p:nvSpPr>
        <p:spPr>
          <a:xfrm>
            <a:off x="4800600" y="2788920"/>
            <a:ext cx="3017520" cy="2560320"/>
          </a:xfrm>
          <a:prstGeom prst="rect">
            <a:avLst/>
          </a:prstGeom>
          <a:noFill/>
        </p:spPr>
        <p:txBody>
          <a:bodyPr wrap="square" lIns="0" rIns="0" tIns="0" bIns="0">
            <a:spAutoFit/>
          </a:bodyPr>
          <a:lstStyle/>
          <a:p>
            <a:pPr algn="l">
              <a:lnSpc>
                <a:spcPct val="130000"/>
              </a:lnSpc>
            </a:pPr>
            <a:r>
              <a:rPr sz="1400" b="0" i="0">
                <a:solidFill>
                  <a:srgbClr val="1A1A1A"/>
                </a:solidFill>
                <a:latin typeface="Calibri"/>
              </a:rPr>
              <a:t>Scan with Prowler, consolidate findings, rank by a transparent priority model</a:t>
            </a:r>
          </a:p>
        </p:txBody>
      </p:sp>
      <p:sp>
        <p:nvSpPr>
          <p:cNvPr id="11" name="Rounded Rectangle 10"/>
          <p:cNvSpPr/>
          <p:nvPr/>
        </p:nvSpPr>
        <p:spPr>
          <a:xfrm>
            <a:off x="8412480" y="1828800"/>
            <a:ext cx="3566160" cy="384048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0" y="1828800"/>
            <a:ext cx="3566160" cy="7315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2148840"/>
            <a:ext cx="3017520" cy="548640"/>
          </a:xfrm>
          <a:prstGeom prst="rect">
            <a:avLst/>
          </a:prstGeom>
          <a:noFill/>
        </p:spPr>
        <p:txBody>
          <a:bodyPr wrap="square" lIns="0" rIns="0" tIns="0" bIns="0">
            <a:spAutoFit/>
          </a:bodyPr>
          <a:lstStyle/>
          <a:p>
            <a:pPr algn="l"/>
            <a:r>
              <a:rPr sz="1900" b="1" i="0">
                <a:solidFill>
                  <a:srgbClr val="0B1F3A"/>
                </a:solidFill>
                <a:latin typeface="Calibri"/>
              </a:rPr>
              <a:t>3. Remediate &amp; Govern</a:t>
            </a:r>
          </a:p>
        </p:txBody>
      </p:sp>
      <p:sp>
        <p:nvSpPr>
          <p:cNvPr id="14" name="TextBox 13"/>
          <p:cNvSpPr txBox="1"/>
          <p:nvPr/>
        </p:nvSpPr>
        <p:spPr>
          <a:xfrm>
            <a:off x="8686800" y="2788920"/>
            <a:ext cx="3017520" cy="2560320"/>
          </a:xfrm>
          <a:prstGeom prst="rect">
            <a:avLst/>
          </a:prstGeom>
          <a:noFill/>
        </p:spPr>
        <p:txBody>
          <a:bodyPr wrap="square" lIns="0" rIns="0" tIns="0" bIns="0">
            <a:spAutoFit/>
          </a:bodyPr>
          <a:lstStyle/>
          <a:p>
            <a:pPr algn="l">
              <a:lnSpc>
                <a:spcPct val="130000"/>
              </a:lnSpc>
            </a:pPr>
            <a:r>
              <a:rPr sz="1400" b="0" i="0">
                <a:solidFill>
                  <a:srgbClr val="1A1A1A"/>
                </a:solidFill>
                <a:latin typeface="Calibri"/>
              </a:rPr>
              <a:t>Auto-fix safe issues, gate risky ones behind human approval, map to ISO 27001</a:t>
            </a:r>
          </a:p>
        </p:txBody>
      </p:sp>
      <p:sp>
        <p:nvSpPr>
          <p:cNvPr id="15" name="TextBox 14"/>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6B7A8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2800" b="1" i="0">
                <a:solidFill>
                  <a:srgbClr val="0B1F3A"/>
                </a:solidFill>
                <a:latin typeface="Calibri"/>
              </a:rPr>
              <a:t>Architecture: 3-Tier AWS Reference Workload</a:t>
            </a:r>
          </a:p>
        </p:txBody>
      </p:sp>
      <p:sp>
        <p:nvSpPr>
          <p:cNvPr id="3" name="Rounded Rectangle 2"/>
          <p:cNvSpPr/>
          <p:nvPr/>
        </p:nvSpPr>
        <p:spPr>
          <a:xfrm>
            <a:off x="640080" y="1554480"/>
            <a:ext cx="3291840" cy="19202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3017520" cy="365760"/>
          </a:xfrm>
          <a:prstGeom prst="rect">
            <a:avLst/>
          </a:prstGeom>
          <a:noFill/>
        </p:spPr>
        <p:txBody>
          <a:bodyPr wrap="square" lIns="0" rIns="0" tIns="0" bIns="0">
            <a:spAutoFit/>
          </a:bodyPr>
          <a:lstStyle/>
          <a:p>
            <a:pPr algn="l"/>
            <a:r>
              <a:rPr sz="1400" b="1" i="0">
                <a:solidFill>
                  <a:srgbClr val="FFFFFF"/>
                </a:solidFill>
                <a:latin typeface="Calibri"/>
              </a:rPr>
              <a:t>Web Tier (public subnet)</a:t>
            </a:r>
          </a:p>
        </p:txBody>
      </p:sp>
      <p:sp>
        <p:nvSpPr>
          <p:cNvPr id="5" name="TextBox 4"/>
          <p:cNvSpPr txBox="1"/>
          <p:nvPr/>
        </p:nvSpPr>
        <p:spPr>
          <a:xfrm>
            <a:off x="777240" y="2057400"/>
            <a:ext cx="3017520" cy="1325880"/>
          </a:xfrm>
          <a:prstGeom prst="rect">
            <a:avLst/>
          </a:prstGeom>
          <a:noFill/>
        </p:spPr>
        <p:txBody>
          <a:bodyPr wrap="square" lIns="0" rIns="0" tIns="0" bIns="0">
            <a:spAutoFit/>
          </a:bodyPr>
          <a:lstStyle/>
          <a:p>
            <a:pPr algn="l">
              <a:lnSpc>
                <a:spcPct val="115000"/>
              </a:lnSpc>
            </a:pPr>
            <a:r>
              <a:rPr sz="1050" b="0" i="0">
                <a:solidFill>
                  <a:srgbClr val="F4F6F8"/>
                </a:solidFill>
                <a:latin typeface="Calibri"/>
              </a:rPr>
              <a:t>EC2 t3.micro</a:t>
            </a:r>
          </a:p>
          <a:p>
            <a:pPr algn="l">
              <a:lnSpc>
                <a:spcPct val="115000"/>
              </a:lnSpc>
            </a:pPr>
            <a:r>
              <a:rPr sz="1050" b="0" i="0">
                <a:solidFill>
                  <a:srgbClr val="F4F6F8"/>
                </a:solidFill>
                <a:latin typeface="Calibri"/>
              </a:rPr>
              <a:t>IMDSv2 enforced</a:t>
            </a:r>
          </a:p>
          <a:p>
            <a:pPr algn="l">
              <a:lnSpc>
                <a:spcPct val="115000"/>
              </a:lnSpc>
            </a:pPr>
            <a:r>
              <a:rPr sz="1050" b="0" i="0">
                <a:solidFill>
                  <a:srgbClr val="F4F6F8"/>
                </a:solidFill>
                <a:latin typeface="Calibri"/>
              </a:rPr>
              <a:t>Encrypted root volume</a:t>
            </a:r>
          </a:p>
          <a:p>
            <a:pPr algn="l">
              <a:lnSpc>
                <a:spcPct val="115000"/>
              </a:lnSpc>
            </a:pPr>
            <a:r>
              <a:rPr sz="1050" b="0" i="0">
                <a:solidFill>
                  <a:srgbClr val="F4F6F8"/>
                </a:solidFill>
                <a:latin typeface="Calibri"/>
              </a:rPr>
              <a:t>IAM instance profile (no keys)</a:t>
            </a:r>
          </a:p>
        </p:txBody>
      </p:sp>
      <p:sp>
        <p:nvSpPr>
          <p:cNvPr id="6" name="Rounded Rectangle 5"/>
          <p:cNvSpPr/>
          <p:nvPr/>
        </p:nvSpPr>
        <p:spPr>
          <a:xfrm>
            <a:off x="4297680" y="1554480"/>
            <a:ext cx="3291840" cy="1920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1645920"/>
            <a:ext cx="3017520" cy="365760"/>
          </a:xfrm>
          <a:prstGeom prst="rect">
            <a:avLst/>
          </a:prstGeom>
          <a:noFill/>
        </p:spPr>
        <p:txBody>
          <a:bodyPr wrap="square" lIns="0" rIns="0" tIns="0" bIns="0">
            <a:spAutoFit/>
          </a:bodyPr>
          <a:lstStyle/>
          <a:p>
            <a:pPr algn="l"/>
            <a:r>
              <a:rPr sz="1400" b="1" i="0">
                <a:solidFill>
                  <a:srgbClr val="FFFFFF"/>
                </a:solidFill>
                <a:latin typeface="Calibri"/>
              </a:rPr>
              <a:t>Data Tier (private subnets)</a:t>
            </a:r>
          </a:p>
        </p:txBody>
      </p:sp>
      <p:sp>
        <p:nvSpPr>
          <p:cNvPr id="8" name="TextBox 7"/>
          <p:cNvSpPr txBox="1"/>
          <p:nvPr/>
        </p:nvSpPr>
        <p:spPr>
          <a:xfrm>
            <a:off x="4434840" y="2057400"/>
            <a:ext cx="3017520" cy="1325880"/>
          </a:xfrm>
          <a:prstGeom prst="rect">
            <a:avLst/>
          </a:prstGeom>
          <a:noFill/>
        </p:spPr>
        <p:txBody>
          <a:bodyPr wrap="square" lIns="0" rIns="0" tIns="0" bIns="0">
            <a:spAutoFit/>
          </a:bodyPr>
          <a:lstStyle/>
          <a:p>
            <a:pPr algn="l">
              <a:lnSpc>
                <a:spcPct val="115000"/>
              </a:lnSpc>
            </a:pPr>
            <a:r>
              <a:rPr sz="1050" b="0" i="0">
                <a:solidFill>
                  <a:srgbClr val="F4F6F8"/>
                </a:solidFill>
                <a:latin typeface="Calibri"/>
              </a:rPr>
              <a:t>RDS instance (2-AZ subnet group)</a:t>
            </a:r>
          </a:p>
          <a:p>
            <a:pPr algn="l">
              <a:lnSpc>
                <a:spcPct val="115000"/>
              </a:lnSpc>
            </a:pPr>
            <a:r>
              <a:rPr sz="1050" b="0" i="0">
                <a:solidFill>
                  <a:srgbClr val="F4F6F8"/>
                </a:solidFill>
                <a:latin typeface="Calibri"/>
              </a:rPr>
              <a:t>Private route table, no IGW route</a:t>
            </a:r>
          </a:p>
          <a:p>
            <a:pPr algn="l">
              <a:lnSpc>
                <a:spcPct val="115000"/>
              </a:lnSpc>
            </a:pPr>
            <a:r>
              <a:rPr sz="1050" b="0" i="0">
                <a:solidFill>
                  <a:srgbClr val="F4F6F8"/>
                </a:solidFill>
                <a:latin typeface="Calibri"/>
              </a:rPr>
              <a:t>SG: DB port from web-tier SG only</a:t>
            </a:r>
          </a:p>
        </p:txBody>
      </p:sp>
      <p:sp>
        <p:nvSpPr>
          <p:cNvPr id="9" name="Rounded Rectangle 8"/>
          <p:cNvSpPr/>
          <p:nvPr/>
        </p:nvSpPr>
        <p:spPr>
          <a:xfrm>
            <a:off x="7955279" y="1554480"/>
            <a:ext cx="3291840" cy="1920240"/>
          </a:xfrm>
          <a:prstGeom prst="roundRect">
            <a:avLst/>
          </a:prstGeom>
          <a:solidFill>
            <a:srgbClr val="16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39" y="1645920"/>
            <a:ext cx="3017520" cy="365760"/>
          </a:xfrm>
          <a:prstGeom prst="rect">
            <a:avLst/>
          </a:prstGeom>
          <a:noFill/>
        </p:spPr>
        <p:txBody>
          <a:bodyPr wrap="square" lIns="0" rIns="0" tIns="0" bIns="0">
            <a:spAutoFit/>
          </a:bodyPr>
          <a:lstStyle/>
          <a:p>
            <a:pPr algn="l"/>
            <a:r>
              <a:rPr sz="1400" b="1" i="0">
                <a:solidFill>
                  <a:srgbClr val="FFFFFF"/>
                </a:solidFill>
                <a:latin typeface="Calibri"/>
              </a:rPr>
              <a:t>Storage</a:t>
            </a:r>
          </a:p>
        </p:txBody>
      </p:sp>
      <p:sp>
        <p:nvSpPr>
          <p:cNvPr id="11" name="TextBox 10"/>
          <p:cNvSpPr txBox="1"/>
          <p:nvPr/>
        </p:nvSpPr>
        <p:spPr>
          <a:xfrm>
            <a:off x="8092439" y="2057400"/>
            <a:ext cx="3017520" cy="1325880"/>
          </a:xfrm>
          <a:prstGeom prst="rect">
            <a:avLst/>
          </a:prstGeom>
          <a:noFill/>
        </p:spPr>
        <p:txBody>
          <a:bodyPr wrap="square" lIns="0" rIns="0" tIns="0" bIns="0">
            <a:spAutoFit/>
          </a:bodyPr>
          <a:lstStyle/>
          <a:p>
            <a:pPr algn="l">
              <a:lnSpc>
                <a:spcPct val="115000"/>
              </a:lnSpc>
            </a:pPr>
            <a:r>
              <a:rPr sz="1050" b="0" i="0">
                <a:solidFill>
                  <a:srgbClr val="F4F6F8"/>
                </a:solidFill>
                <a:latin typeface="Calibri"/>
              </a:rPr>
              <a:t>S3 app bucket</a:t>
            </a:r>
          </a:p>
          <a:p>
            <a:pPr algn="l">
              <a:lnSpc>
                <a:spcPct val="115000"/>
              </a:lnSpc>
            </a:pPr>
            <a:r>
              <a:rPr sz="1050" b="0" i="0">
                <a:solidFill>
                  <a:srgbClr val="F4F6F8"/>
                </a:solidFill>
                <a:latin typeface="Calibri"/>
              </a:rPr>
              <a:t>Versioning enabled</a:t>
            </a:r>
          </a:p>
          <a:p>
            <a:pPr algn="l">
              <a:lnSpc>
                <a:spcPct val="115000"/>
              </a:lnSpc>
            </a:pPr>
            <a:r>
              <a:rPr sz="1050" b="0" i="0">
                <a:solidFill>
                  <a:srgbClr val="F4F6F8"/>
                </a:solidFill>
                <a:latin typeface="Calibri"/>
              </a:rPr>
              <a:t>S3 Gateway VPC Endpoint</a:t>
            </a:r>
          </a:p>
          <a:p>
            <a:pPr algn="l">
              <a:lnSpc>
                <a:spcPct val="115000"/>
              </a:lnSpc>
            </a:pPr>
            <a:r>
              <a:rPr sz="1050" b="0" i="0">
                <a:solidFill>
                  <a:srgbClr val="F4F6F8"/>
                </a:solidFill>
                <a:latin typeface="Calibri"/>
              </a:rPr>
              <a:t>(no NAT Gateway needed)</a:t>
            </a:r>
          </a:p>
        </p:txBody>
      </p:sp>
      <p:sp>
        <p:nvSpPr>
          <p:cNvPr id="12" name="TextBox 11"/>
          <p:cNvSpPr txBox="1"/>
          <p:nvPr/>
        </p:nvSpPr>
        <p:spPr>
          <a:xfrm>
            <a:off x="640080" y="3794760"/>
            <a:ext cx="10515600" cy="365760"/>
          </a:xfrm>
          <a:prstGeom prst="rect">
            <a:avLst/>
          </a:prstGeom>
          <a:noFill/>
        </p:spPr>
        <p:txBody>
          <a:bodyPr wrap="square" lIns="0" rIns="0" tIns="0" bIns="0">
            <a:spAutoFit/>
          </a:bodyPr>
          <a:lstStyle/>
          <a:p>
            <a:pPr algn="l"/>
            <a:r>
              <a:rPr sz="1300" b="0" i="1">
                <a:solidFill>
                  <a:srgbClr val="6B7A8F"/>
                </a:solidFill>
                <a:latin typeface="Calibri"/>
              </a:rPr>
              <a:t>Provisioned entirely by Terraform, remote state in S3 + DynamoDB lock table</a:t>
            </a:r>
          </a:p>
        </p:txBody>
      </p:sp>
      <p:sp>
        <p:nvSpPr>
          <p:cNvPr id="13" name="TextBox 12"/>
          <p:cNvSpPr txBox="1"/>
          <p:nvPr/>
        </p:nvSpPr>
        <p:spPr>
          <a:xfrm>
            <a:off x="640080" y="4572000"/>
            <a:ext cx="3291840" cy="822960"/>
          </a:xfrm>
          <a:prstGeom prst="rect">
            <a:avLst/>
          </a:prstGeom>
          <a:noFill/>
        </p:spPr>
        <p:txBody>
          <a:bodyPr wrap="square" lIns="0" rIns="0" tIns="0" bIns="0">
            <a:spAutoFit/>
          </a:bodyPr>
          <a:lstStyle/>
          <a:p>
            <a:pPr algn="l"/>
            <a:r>
              <a:rPr sz="4000" b="1" i="0">
                <a:solidFill>
                  <a:srgbClr val="02C39A"/>
                </a:solidFill>
                <a:latin typeface="Calibri"/>
              </a:rPr>
              <a:t>614</a:t>
            </a:r>
          </a:p>
        </p:txBody>
      </p:sp>
      <p:sp>
        <p:nvSpPr>
          <p:cNvPr id="14" name="TextBox 13"/>
          <p:cNvSpPr txBox="1"/>
          <p:nvPr/>
        </p:nvSpPr>
        <p:spPr>
          <a:xfrm>
            <a:off x="640080" y="5349240"/>
            <a:ext cx="3291840" cy="548640"/>
          </a:xfrm>
          <a:prstGeom prst="rect">
            <a:avLst/>
          </a:prstGeom>
          <a:noFill/>
        </p:spPr>
        <p:txBody>
          <a:bodyPr wrap="square" lIns="0" rIns="0" tIns="0" bIns="0">
            <a:spAutoFit/>
          </a:bodyPr>
          <a:lstStyle/>
          <a:p>
            <a:pPr algn="l"/>
            <a:r>
              <a:rPr sz="1300" b="0" i="0">
                <a:solidFill>
                  <a:srgbClr val="1A1A1A"/>
                </a:solidFill>
                <a:latin typeface="Calibri"/>
              </a:rPr>
              <a:t>Prowler checks run per scan</a:t>
            </a:r>
          </a:p>
        </p:txBody>
      </p:sp>
      <p:sp>
        <p:nvSpPr>
          <p:cNvPr id="15" name="TextBox 14"/>
          <p:cNvSpPr txBox="1"/>
          <p:nvPr/>
        </p:nvSpPr>
        <p:spPr>
          <a:xfrm>
            <a:off x="4297680" y="4572000"/>
            <a:ext cx="3291840" cy="822960"/>
          </a:xfrm>
          <a:prstGeom prst="rect">
            <a:avLst/>
          </a:prstGeom>
          <a:noFill/>
        </p:spPr>
        <p:txBody>
          <a:bodyPr wrap="square" lIns="0" rIns="0" tIns="0" bIns="0">
            <a:spAutoFit/>
          </a:bodyPr>
          <a:lstStyle/>
          <a:p>
            <a:pPr algn="l"/>
            <a:r>
              <a:rPr sz="4000" b="1" i="0">
                <a:solidFill>
                  <a:srgbClr val="02C39A"/>
                </a:solidFill>
                <a:latin typeface="Calibri"/>
              </a:rPr>
              <a:t>8</a:t>
            </a:r>
          </a:p>
        </p:txBody>
      </p:sp>
      <p:sp>
        <p:nvSpPr>
          <p:cNvPr id="16" name="TextBox 15"/>
          <p:cNvSpPr txBox="1"/>
          <p:nvPr/>
        </p:nvSpPr>
        <p:spPr>
          <a:xfrm>
            <a:off x="4297680" y="5349240"/>
            <a:ext cx="3291840" cy="548640"/>
          </a:xfrm>
          <a:prstGeom prst="rect">
            <a:avLst/>
          </a:prstGeom>
          <a:noFill/>
        </p:spPr>
        <p:txBody>
          <a:bodyPr wrap="square" lIns="0" rIns="0" tIns="0" bIns="0">
            <a:spAutoFit/>
          </a:bodyPr>
          <a:lstStyle/>
          <a:p>
            <a:pPr algn="l"/>
            <a:r>
              <a:rPr sz="1300" b="0" i="0">
                <a:solidFill>
                  <a:srgbClr val="1A1A1A"/>
                </a:solidFill>
                <a:latin typeface="Calibri"/>
              </a:rPr>
              <a:t>deliberate misconfigurations</a:t>
            </a:r>
          </a:p>
        </p:txBody>
      </p:sp>
      <p:sp>
        <p:nvSpPr>
          <p:cNvPr id="17" name="TextBox 16"/>
          <p:cNvSpPr txBox="1"/>
          <p:nvPr/>
        </p:nvSpPr>
        <p:spPr>
          <a:xfrm>
            <a:off x="7955280" y="4572000"/>
            <a:ext cx="3291840" cy="822960"/>
          </a:xfrm>
          <a:prstGeom prst="rect">
            <a:avLst/>
          </a:prstGeom>
          <a:noFill/>
        </p:spPr>
        <p:txBody>
          <a:bodyPr wrap="square" lIns="0" rIns="0" tIns="0" bIns="0">
            <a:spAutoFit/>
          </a:bodyPr>
          <a:lstStyle/>
          <a:p>
            <a:pPr algn="l"/>
            <a:r>
              <a:rPr sz="4000" b="1" i="0">
                <a:solidFill>
                  <a:srgbClr val="02C39A"/>
                </a:solidFill>
                <a:latin typeface="Calibri"/>
              </a:rPr>
              <a:t>us-east-1</a:t>
            </a:r>
          </a:p>
        </p:txBody>
      </p:sp>
      <p:sp>
        <p:nvSpPr>
          <p:cNvPr id="18" name="TextBox 17"/>
          <p:cNvSpPr txBox="1"/>
          <p:nvPr/>
        </p:nvSpPr>
        <p:spPr>
          <a:xfrm>
            <a:off x="7955280" y="5349240"/>
            <a:ext cx="3291840" cy="548640"/>
          </a:xfrm>
          <a:prstGeom prst="rect">
            <a:avLst/>
          </a:prstGeom>
          <a:noFill/>
        </p:spPr>
        <p:txBody>
          <a:bodyPr wrap="square" lIns="0" rIns="0" tIns="0" bIns="0">
            <a:spAutoFit/>
          </a:bodyPr>
          <a:lstStyle/>
          <a:p>
            <a:pPr algn="l"/>
            <a:r>
              <a:rPr sz="1300" b="0" i="0">
                <a:solidFill>
                  <a:srgbClr val="1A1A1A"/>
                </a:solidFill>
                <a:latin typeface="Calibri"/>
              </a:rPr>
              <a:t>single AWS region, free tier</a:t>
            </a:r>
          </a:p>
        </p:txBody>
      </p:sp>
      <p:sp>
        <p:nvSpPr>
          <p:cNvPr id="19" name="TextBox 18"/>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6B7A8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515600" cy="640080"/>
          </a:xfrm>
          <a:prstGeom prst="rect">
            <a:avLst/>
          </a:prstGeom>
          <a:noFill/>
        </p:spPr>
        <p:txBody>
          <a:bodyPr wrap="square" lIns="0" rIns="0" tIns="0" bIns="0">
            <a:spAutoFit/>
          </a:bodyPr>
          <a:lstStyle/>
          <a:p>
            <a:pPr algn="l"/>
            <a:r>
              <a:rPr sz="2800" b="1" i="0">
                <a:solidFill>
                  <a:srgbClr val="0B1F3A"/>
                </a:solidFill>
                <a:latin typeface="Calibri"/>
              </a:rPr>
              <a:t>8 Deliberate Misconfigurations</a:t>
            </a:r>
          </a:p>
        </p:txBody>
      </p:sp>
      <p:sp>
        <p:nvSpPr>
          <p:cNvPr id="3" name="TextBox 2"/>
          <p:cNvSpPr txBox="1"/>
          <p:nvPr/>
        </p:nvSpPr>
        <p:spPr>
          <a:xfrm>
            <a:off x="640080" y="914400"/>
            <a:ext cx="10515600" cy="365760"/>
          </a:xfrm>
          <a:prstGeom prst="rect">
            <a:avLst/>
          </a:prstGeom>
          <a:noFill/>
        </p:spPr>
        <p:txBody>
          <a:bodyPr wrap="square" lIns="0" rIns="0" tIns="0" bIns="0">
            <a:spAutoFit/>
          </a:bodyPr>
          <a:lstStyle/>
          <a:p>
            <a:pPr algn="l"/>
            <a:r>
              <a:rPr sz="1400" b="0" i="1">
                <a:solidFill>
                  <a:srgbClr val="6B7A8F"/>
                </a:solidFill>
                <a:latin typeface="Calibri"/>
              </a:rPr>
              <a:t>Grounded in the real baseline scan, not a generic checklist</a:t>
            </a:r>
          </a:p>
        </p:txBody>
      </p:sp>
      <p:graphicFrame>
        <p:nvGraphicFramePr>
          <p:cNvPr id="4" name="Table 3"/>
          <p:cNvGraphicFramePr>
            <a:graphicFrameLocks noGrp="1"/>
          </p:cNvGraphicFramePr>
          <p:nvPr/>
        </p:nvGraphicFramePr>
        <p:xfrm>
          <a:off x="640080" y="1463040"/>
          <a:ext cx="10881360" cy="4480560"/>
        </p:xfrm>
        <a:graphic>
          <a:graphicData uri="http://schemas.openxmlformats.org/drawingml/2006/table">
            <a:tbl>
              <a:tblPr firstRow="1" bandRow="1">
                <a:tableStyleId>{5C22544A-7EE6-4342-B048-85BDC9FD1C3A}</a:tableStyleId>
              </a:tblPr>
              <a:tblGrid>
                <a:gridCol w="2720340"/>
                <a:gridCol w="2720340"/>
                <a:gridCol w="2720340"/>
                <a:gridCol w="2720340"/>
              </a:tblGrid>
              <a:tr h="497840">
                <a:tc>
                  <a:txBody>
                    <a:bodyPr/>
                    <a:lstStyle/>
                    <a:p>
                      <a:pPr algn="l"/>
                      <a:r>
                        <a:rPr b="1" sz="1200">
                          <a:solidFill>
                            <a:srgbClr val="FFFFFF"/>
                          </a:solidFill>
                        </a:rPr>
                        <a:t>#</a:t>
                      </a:r>
                    </a:p>
                  </a:txBody>
                  <a:tcPr>
                    <a:solidFill>
                      <a:srgbClr val="0B1F3A"/>
                    </a:solidFill>
                  </a:tcPr>
                </a:tc>
                <a:tc>
                  <a:txBody>
                    <a:bodyPr/>
                    <a:lstStyle/>
                    <a:p>
                      <a:pPr algn="l"/>
                      <a:r>
                        <a:rPr b="1" sz="1200">
                          <a:solidFill>
                            <a:srgbClr val="FFFFFF"/>
                          </a:solidFill>
                        </a:rPr>
                        <a:t>Category</a:t>
                      </a:r>
                    </a:p>
                  </a:txBody>
                  <a:tcPr>
                    <a:solidFill>
                      <a:srgbClr val="0B1F3A"/>
                    </a:solidFill>
                  </a:tcPr>
                </a:tc>
                <a:tc>
                  <a:txBody>
                    <a:bodyPr/>
                    <a:lstStyle/>
                    <a:p>
                      <a:pPr algn="l"/>
                      <a:r>
                        <a:rPr b="1" sz="1200">
                          <a:solidFill>
                            <a:srgbClr val="FFFFFF"/>
                          </a:solidFill>
                        </a:rPr>
                        <a:t>Change</a:t>
                      </a:r>
                    </a:p>
                  </a:txBody>
                  <a:tcPr>
                    <a:solidFill>
                      <a:srgbClr val="0B1F3A"/>
                    </a:solidFill>
                  </a:tcPr>
                </a:tc>
                <a:tc>
                  <a:txBody>
                    <a:bodyPr/>
                    <a:lstStyle/>
                    <a:p>
                      <a:pPr algn="l"/>
                      <a:r>
                        <a:rPr b="1" sz="1200">
                          <a:solidFill>
                            <a:srgbClr val="FFFFFF"/>
                          </a:solidFill>
                        </a:rPr>
                        <a:t>Detected?</a:t>
                      </a:r>
                    </a:p>
                  </a:txBody>
                  <a:tcPr>
                    <a:solidFill>
                      <a:srgbClr val="0B1F3A"/>
                    </a:solidFill>
                  </a:tcPr>
                </a:tc>
              </a:tr>
              <a:tr h="497840">
                <a:tc>
                  <a:txBody>
                    <a:bodyPr/>
                    <a:lstStyle/>
                    <a:p>
                      <a:r>
                        <a:rPr sz="1200">
                          <a:solidFill>
                            <a:srgbClr val="1A1A1A"/>
                          </a:solidFill>
                        </a:rPr>
                        <a:t>1</a:t>
                      </a:r>
                    </a:p>
                  </a:txBody>
                  <a:tcPr>
                    <a:solidFill>
                      <a:srgbClr val="F4F6F8"/>
                    </a:solidFill>
                  </a:tcPr>
                </a:tc>
                <a:tc>
                  <a:txBody>
                    <a:bodyPr/>
                    <a:lstStyle/>
                    <a:p>
                      <a:r>
                        <a:rPr sz="1200">
                          <a:solidFill>
                            <a:srgbClr val="1A1A1A"/>
                          </a:solidFill>
                        </a:rPr>
                        <a:t>Storage</a:t>
                      </a:r>
                    </a:p>
                  </a:txBody>
                  <a:tcPr>
                    <a:solidFill>
                      <a:srgbClr val="F4F6F8"/>
                    </a:solidFill>
                  </a:tcPr>
                </a:tc>
                <a:tc>
                  <a:txBody>
                    <a:bodyPr/>
                    <a:lstStyle/>
                    <a:p>
                      <a:r>
                        <a:rPr sz="1200">
                          <a:solidFill>
                            <a:srgbClr val="1A1A1A"/>
                          </a:solidFill>
                        </a:rPr>
                        <a:t>S3 Block Public Access disabled + public-read policy</a:t>
                      </a:r>
                    </a:p>
                  </a:txBody>
                  <a:tcPr>
                    <a:solidFill>
                      <a:srgbClr val="F4F6F8"/>
                    </a:solidFill>
                  </a:tcPr>
                </a:tc>
                <a:tc>
                  <a:txBody>
                    <a:bodyPr/>
                    <a:lstStyle/>
                    <a:p>
                      <a:r>
                        <a:rPr sz="1200">
                          <a:solidFill>
                            <a:srgbClr val="1A1A1A"/>
                          </a:solidFill>
                        </a:rPr>
                        <a:t>Yes</a:t>
                      </a:r>
                    </a:p>
                  </a:txBody>
                  <a:tcPr>
                    <a:solidFill>
                      <a:srgbClr val="F4F6F8"/>
                    </a:solidFill>
                  </a:tcPr>
                </a:tc>
              </a:tr>
              <a:tr h="497840">
                <a:tc>
                  <a:txBody>
                    <a:bodyPr/>
                    <a:lstStyle/>
                    <a:p>
                      <a:r>
                        <a:rPr sz="1200">
                          <a:solidFill>
                            <a:srgbClr val="1A1A1A"/>
                          </a:solidFill>
                        </a:rPr>
                        <a:t>2</a:t>
                      </a:r>
                    </a:p>
                  </a:txBody>
                  <a:tcPr>
                    <a:solidFill>
                      <a:srgbClr val="FFFFFF"/>
                    </a:solidFill>
                  </a:tcPr>
                </a:tc>
                <a:tc>
                  <a:txBody>
                    <a:bodyPr/>
                    <a:lstStyle/>
                    <a:p>
                      <a:r>
                        <a:rPr sz="1200">
                          <a:solidFill>
                            <a:srgbClr val="1A1A1A"/>
                          </a:solidFill>
                        </a:rPr>
                        <a:t>Encryption</a:t>
                      </a:r>
                    </a:p>
                  </a:txBody>
                  <a:tcPr>
                    <a:solidFill>
                      <a:srgbClr val="FFFFFF"/>
                    </a:solidFill>
                  </a:tcPr>
                </a:tc>
                <a:tc>
                  <a:txBody>
                    <a:bodyPr/>
                    <a:lstStyle/>
                    <a:p>
                      <a:r>
                        <a:rPr sz="1200">
                          <a:solidFill>
                            <a:srgbClr val="1A1A1A"/>
                          </a:solidFill>
                        </a:rPr>
                        <a:t>S3 default KMS encryption removed</a:t>
                      </a:r>
                    </a:p>
                  </a:txBody>
                  <a:tcPr>
                    <a:solidFill>
                      <a:srgbClr val="FFFFFF"/>
                    </a:solidFill>
                  </a:tcPr>
                </a:tc>
                <a:tc>
                  <a:txBody>
                    <a:bodyPr/>
                    <a:lstStyle/>
                    <a:p>
                      <a:r>
                        <a:rPr sz="1200">
                          <a:solidFill>
                            <a:srgbClr val="1A1A1A"/>
                          </a:solidFill>
                        </a:rPr>
                        <a:t>Yes</a:t>
                      </a:r>
                    </a:p>
                  </a:txBody>
                  <a:tcPr>
                    <a:solidFill>
                      <a:srgbClr val="FFFFFF"/>
                    </a:solidFill>
                  </a:tcPr>
                </a:tc>
              </a:tr>
              <a:tr h="497840">
                <a:tc>
                  <a:txBody>
                    <a:bodyPr/>
                    <a:lstStyle/>
                    <a:p>
                      <a:r>
                        <a:rPr sz="1200">
                          <a:solidFill>
                            <a:srgbClr val="1A1A1A"/>
                          </a:solidFill>
                        </a:rPr>
                        <a:t>3</a:t>
                      </a:r>
                    </a:p>
                  </a:txBody>
                  <a:tcPr>
                    <a:solidFill>
                      <a:srgbClr val="F4F6F8"/>
                    </a:solidFill>
                  </a:tcPr>
                </a:tc>
                <a:tc>
                  <a:txBody>
                    <a:bodyPr/>
                    <a:lstStyle/>
                    <a:p>
                      <a:r>
                        <a:rPr sz="1200">
                          <a:solidFill>
                            <a:srgbClr val="1A1A1A"/>
                          </a:solidFill>
                        </a:rPr>
                        <a:t>Networking</a:t>
                      </a:r>
                    </a:p>
                  </a:txBody>
                  <a:tcPr>
                    <a:solidFill>
                      <a:srgbClr val="F4F6F8"/>
                    </a:solidFill>
                  </a:tcPr>
                </a:tc>
                <a:tc>
                  <a:txBody>
                    <a:bodyPr/>
                    <a:lstStyle/>
                    <a:p>
                      <a:r>
                        <a:rPr sz="1200">
                          <a:solidFill>
                            <a:srgbClr val="1A1A1A"/>
                          </a:solidFill>
                        </a:rPr>
                        <a:t>RDS publicly_accessible=true + open DB port</a:t>
                      </a:r>
                    </a:p>
                  </a:txBody>
                  <a:tcPr>
                    <a:solidFill>
                      <a:srgbClr val="F4F6F8"/>
                    </a:solidFill>
                  </a:tcPr>
                </a:tc>
                <a:tc>
                  <a:txBody>
                    <a:bodyPr/>
                    <a:lstStyle/>
                    <a:p>
                      <a:r>
                        <a:rPr sz="1200">
                          <a:solidFill>
                            <a:srgbClr val="1A1A1A"/>
                          </a:solidFill>
                        </a:rPr>
                        <a:t>No — network-mitigated</a:t>
                      </a:r>
                    </a:p>
                  </a:txBody>
                  <a:tcPr>
                    <a:solidFill>
                      <a:srgbClr val="F4F6F8"/>
                    </a:solidFill>
                  </a:tcPr>
                </a:tc>
              </a:tr>
              <a:tr h="497840">
                <a:tc>
                  <a:txBody>
                    <a:bodyPr/>
                    <a:lstStyle/>
                    <a:p>
                      <a:r>
                        <a:rPr sz="1200">
                          <a:solidFill>
                            <a:srgbClr val="1A1A1A"/>
                          </a:solidFill>
                        </a:rPr>
                        <a:t>4</a:t>
                      </a:r>
                    </a:p>
                  </a:txBody>
                  <a:tcPr>
                    <a:solidFill>
                      <a:srgbClr val="FFFFFF"/>
                    </a:solidFill>
                  </a:tcPr>
                </a:tc>
                <a:tc>
                  <a:txBody>
                    <a:bodyPr/>
                    <a:lstStyle/>
                    <a:p>
                      <a:r>
                        <a:rPr sz="1200">
                          <a:solidFill>
                            <a:srgbClr val="1A1A1A"/>
                          </a:solidFill>
                        </a:rPr>
                        <a:t>Networking</a:t>
                      </a:r>
                    </a:p>
                  </a:txBody>
                  <a:tcPr>
                    <a:solidFill>
                      <a:srgbClr val="FFFFFF"/>
                    </a:solidFill>
                  </a:tcPr>
                </a:tc>
                <a:tc>
                  <a:txBody>
                    <a:bodyPr/>
                    <a:lstStyle/>
                    <a:p>
                      <a:r>
                        <a:rPr sz="1200">
                          <a:solidFill>
                            <a:srgbClr val="1A1A1A"/>
                          </a:solidFill>
                        </a:rPr>
                        <a:t>Data subnet assigns public IP by default</a:t>
                      </a:r>
                    </a:p>
                  </a:txBody>
                  <a:tcPr>
                    <a:solidFill>
                      <a:srgbClr val="FFFFFF"/>
                    </a:solidFill>
                  </a:tcPr>
                </a:tc>
                <a:tc>
                  <a:txBody>
                    <a:bodyPr/>
                    <a:lstStyle/>
                    <a:p>
                      <a:r>
                        <a:rPr sz="1200">
                          <a:solidFill>
                            <a:srgbClr val="1A1A1A"/>
                          </a:solidFill>
                        </a:rPr>
                        <a:t>Yes</a:t>
                      </a:r>
                    </a:p>
                  </a:txBody>
                  <a:tcPr>
                    <a:solidFill>
                      <a:srgbClr val="FFFFFF"/>
                    </a:solidFill>
                  </a:tcPr>
                </a:tc>
              </a:tr>
              <a:tr h="497840">
                <a:tc>
                  <a:txBody>
                    <a:bodyPr/>
                    <a:lstStyle/>
                    <a:p>
                      <a:r>
                        <a:rPr sz="1200">
                          <a:solidFill>
                            <a:srgbClr val="1A1A1A"/>
                          </a:solidFill>
                        </a:rPr>
                        <a:t>5</a:t>
                      </a:r>
                    </a:p>
                  </a:txBody>
                  <a:tcPr>
                    <a:solidFill>
                      <a:srgbClr val="F4F6F8"/>
                    </a:solidFill>
                  </a:tcPr>
                </a:tc>
                <a:tc>
                  <a:txBody>
                    <a:bodyPr/>
                    <a:lstStyle/>
                    <a:p>
                      <a:r>
                        <a:rPr sz="1200">
                          <a:solidFill>
                            <a:srgbClr val="1A1A1A"/>
                          </a:solidFill>
                        </a:rPr>
                        <a:t>Encryption</a:t>
                      </a:r>
                    </a:p>
                  </a:txBody>
                  <a:tcPr>
                    <a:solidFill>
                      <a:srgbClr val="F4F6F8"/>
                    </a:solidFill>
                  </a:tcPr>
                </a:tc>
                <a:tc>
                  <a:txBody>
                    <a:bodyPr/>
                    <a:lstStyle/>
                    <a:p>
                      <a:r>
                        <a:rPr sz="1200">
                          <a:solidFill>
                            <a:srgbClr val="1A1A1A"/>
                          </a:solidFill>
                        </a:rPr>
                        <a:t>RDS storage_encrypted=false</a:t>
                      </a:r>
                    </a:p>
                  </a:txBody>
                  <a:tcPr>
                    <a:solidFill>
                      <a:srgbClr val="F4F6F8"/>
                    </a:solidFill>
                  </a:tcPr>
                </a:tc>
                <a:tc>
                  <a:txBody>
                    <a:bodyPr/>
                    <a:lstStyle/>
                    <a:p>
                      <a:r>
                        <a:rPr sz="1200">
                          <a:solidFill>
                            <a:srgbClr val="1A1A1A"/>
                          </a:solidFill>
                        </a:rPr>
                        <a:t>Yes</a:t>
                      </a:r>
                    </a:p>
                  </a:txBody>
                  <a:tcPr>
                    <a:solidFill>
                      <a:srgbClr val="F4F6F8"/>
                    </a:solidFill>
                  </a:tcPr>
                </a:tc>
              </a:tr>
              <a:tr h="497840">
                <a:tc>
                  <a:txBody>
                    <a:bodyPr/>
                    <a:lstStyle/>
                    <a:p>
                      <a:r>
                        <a:rPr sz="1200">
                          <a:solidFill>
                            <a:srgbClr val="1A1A1A"/>
                          </a:solidFill>
                        </a:rPr>
                        <a:t>6</a:t>
                      </a:r>
                    </a:p>
                  </a:txBody>
                  <a:tcPr>
                    <a:solidFill>
                      <a:srgbClr val="FFFFFF"/>
                    </a:solidFill>
                  </a:tcPr>
                </a:tc>
                <a:tc>
                  <a:txBody>
                    <a:bodyPr/>
                    <a:lstStyle/>
                    <a:p>
                      <a:r>
                        <a:rPr sz="1200">
                          <a:solidFill>
                            <a:srgbClr val="1A1A1A"/>
                          </a:solidFill>
                        </a:rPr>
                        <a:t>IAM</a:t>
                      </a:r>
                    </a:p>
                  </a:txBody>
                  <a:tcPr>
                    <a:solidFill>
                      <a:srgbClr val="FFFFFF"/>
                    </a:solidFill>
                  </a:tcPr>
                </a:tc>
                <a:tc>
                  <a:txBody>
                    <a:bodyPr/>
                    <a:lstStyle/>
                    <a:p>
                      <a:r>
                        <a:rPr sz="1200">
                          <a:solidFill>
                            <a:srgbClr val="1A1A1A"/>
                          </a:solidFill>
                        </a:rPr>
                        <a:t>AdministratorAccess attached to web role</a:t>
                      </a:r>
                    </a:p>
                  </a:txBody>
                  <a:tcPr>
                    <a:solidFill>
                      <a:srgbClr val="FFFFFF"/>
                    </a:solidFill>
                  </a:tcPr>
                </a:tc>
                <a:tc>
                  <a:txBody>
                    <a:bodyPr/>
                    <a:lstStyle/>
                    <a:p>
                      <a:r>
                        <a:rPr sz="1200">
                          <a:solidFill>
                            <a:srgbClr val="1A1A1A"/>
                          </a:solidFill>
                        </a:rPr>
                        <a:t>Yes</a:t>
                      </a:r>
                    </a:p>
                  </a:txBody>
                  <a:tcPr>
                    <a:solidFill>
                      <a:srgbClr val="FFFFFF"/>
                    </a:solidFill>
                  </a:tcPr>
                </a:tc>
              </a:tr>
              <a:tr h="497840">
                <a:tc>
                  <a:txBody>
                    <a:bodyPr/>
                    <a:lstStyle/>
                    <a:p>
                      <a:r>
                        <a:rPr sz="1200">
                          <a:solidFill>
                            <a:srgbClr val="1A1A1A"/>
                          </a:solidFill>
                        </a:rPr>
                        <a:t>7</a:t>
                      </a:r>
                    </a:p>
                  </a:txBody>
                  <a:tcPr>
                    <a:solidFill>
                      <a:srgbClr val="F4F6F8"/>
                    </a:solidFill>
                  </a:tcPr>
                </a:tc>
                <a:tc>
                  <a:txBody>
                    <a:bodyPr/>
                    <a:lstStyle/>
                    <a:p>
                      <a:r>
                        <a:rPr sz="1200">
                          <a:solidFill>
                            <a:srgbClr val="1A1A1A"/>
                          </a:solidFill>
                        </a:rPr>
                        <a:t>IAM</a:t>
                      </a:r>
                    </a:p>
                  </a:txBody>
                  <a:tcPr>
                    <a:solidFill>
                      <a:srgbClr val="F4F6F8"/>
                    </a:solidFill>
                  </a:tcPr>
                </a:tc>
                <a:tc>
                  <a:txBody>
                    <a:bodyPr/>
                    <a:lstStyle/>
                    <a:p>
                      <a:r>
                        <a:rPr sz="1200">
                          <a:solidFill>
                            <a:srgbClr val="1A1A1A"/>
                          </a:solidFill>
                        </a:rPr>
                        <a:t>Trust policy Principal=*, ReadOnlyAccess attached</a:t>
                      </a:r>
                    </a:p>
                  </a:txBody>
                  <a:tcPr>
                    <a:solidFill>
                      <a:srgbClr val="F4F6F8"/>
                    </a:solidFill>
                  </a:tcPr>
                </a:tc>
                <a:tc>
                  <a:txBody>
                    <a:bodyPr/>
                    <a:lstStyle/>
                    <a:p>
                      <a:r>
                        <a:rPr sz="1200">
                          <a:solidFill>
                            <a:srgbClr val="1A1A1A"/>
                          </a:solidFill>
                        </a:rPr>
                        <a:t>Yes</a:t>
                      </a:r>
                    </a:p>
                  </a:txBody>
                  <a:tcPr>
                    <a:solidFill>
                      <a:srgbClr val="F4F6F8"/>
                    </a:solidFill>
                  </a:tcPr>
                </a:tc>
              </a:tr>
              <a:tr h="497840">
                <a:tc>
                  <a:txBody>
                    <a:bodyPr/>
                    <a:lstStyle/>
                    <a:p>
                      <a:r>
                        <a:rPr sz="1200">
                          <a:solidFill>
                            <a:srgbClr val="1A1A1A"/>
                          </a:solidFill>
                        </a:rPr>
                        <a:t>8</a:t>
                      </a:r>
                    </a:p>
                  </a:txBody>
                  <a:tcPr>
                    <a:solidFill>
                      <a:srgbClr val="FFFFFF"/>
                    </a:solidFill>
                  </a:tcPr>
                </a:tc>
                <a:tc>
                  <a:txBody>
                    <a:bodyPr/>
                    <a:lstStyle/>
                    <a:p>
                      <a:r>
                        <a:rPr sz="1200">
                          <a:solidFill>
                            <a:srgbClr val="1A1A1A"/>
                          </a:solidFill>
                        </a:rPr>
                        <a:t>Logging</a:t>
                      </a:r>
                    </a:p>
                  </a:txBody>
                  <a:tcPr>
                    <a:solidFill>
                      <a:srgbClr val="FFFFFF"/>
                    </a:solidFill>
                  </a:tcPr>
                </a:tc>
                <a:tc>
                  <a:txBody>
                    <a:bodyPr/>
                    <a:lstStyle/>
                    <a:p>
                      <a:r>
                        <a:rPr sz="1200">
                          <a:solidFill>
                            <a:srgbClr val="1A1A1A"/>
                          </a:solidFill>
                        </a:rPr>
                        <a:t>CloudTrail never enabled</a:t>
                      </a:r>
                    </a:p>
                  </a:txBody>
                  <a:tcPr>
                    <a:solidFill>
                      <a:srgbClr val="FFFFFF"/>
                    </a:solidFill>
                  </a:tcPr>
                </a:tc>
                <a:tc>
                  <a:txBody>
                    <a:bodyPr/>
                    <a:lstStyle/>
                    <a:p>
                      <a:r>
                        <a:rPr sz="1200">
                          <a:solidFill>
                            <a:srgbClr val="1A1A1A"/>
                          </a:solidFill>
                        </a:rPr>
                        <a:t>Yes (pre-existing)</a:t>
                      </a:r>
                    </a:p>
                  </a:txBody>
                  <a:tcPr>
                    <a:solidFill>
                      <a:srgbClr val="FFFFFF"/>
                    </a:solidFill>
                  </a:tcPr>
                </a:tc>
              </a:tr>
            </a:tbl>
          </a:graphicData>
        </a:graphic>
      </p:graphicFrame>
      <p:sp>
        <p:nvSpPr>
          <p:cNvPr id="5" name="TextBox 4"/>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6B7A8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2800" b="1" i="0">
                <a:solidFill>
                  <a:srgbClr val="FFFFFF"/>
                </a:solidFill>
                <a:latin typeface="Calibri"/>
              </a:rPr>
              <a:t>The Detection-Gap Investigation</a:t>
            </a:r>
          </a:p>
        </p:txBody>
      </p:sp>
      <p:sp>
        <p:nvSpPr>
          <p:cNvPr id="3" name="TextBox 2"/>
          <p:cNvSpPr txBox="1"/>
          <p:nvPr/>
        </p:nvSpPr>
        <p:spPr>
          <a:xfrm>
            <a:off x="640080" y="1188720"/>
            <a:ext cx="10515600" cy="457200"/>
          </a:xfrm>
          <a:prstGeom prst="rect">
            <a:avLst/>
          </a:prstGeom>
          <a:noFill/>
        </p:spPr>
        <p:txBody>
          <a:bodyPr wrap="square" lIns="0" rIns="0" tIns="0" bIns="0">
            <a:spAutoFit/>
          </a:bodyPr>
          <a:lstStyle/>
          <a:p>
            <a:pPr algn="l"/>
            <a:r>
              <a:rPr sz="1500" b="0" i="1">
                <a:solidFill>
                  <a:srgbClr val="02C39A"/>
                </a:solidFill>
                <a:latin typeface="Calibri"/>
              </a:rPr>
              <a:t>A raw check-by-check CSV diff — not the summary percentage — revealed 3 misconfigs produced no new finding.</a:t>
            </a:r>
          </a:p>
        </p:txBody>
      </p:sp>
      <p:sp>
        <p:nvSpPr>
          <p:cNvPr id="4" name="Rounded Rectangle 3"/>
          <p:cNvSpPr/>
          <p:nvPr/>
        </p:nvSpPr>
        <p:spPr>
          <a:xfrm>
            <a:off x="640080" y="2011680"/>
            <a:ext cx="10881360" cy="1051560"/>
          </a:xfrm>
          <a:prstGeom prst="roundRect">
            <a:avLst/>
          </a:prstGeom>
          <a:solidFill>
            <a:srgbClr val="16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48840"/>
            <a:ext cx="2926080" cy="777240"/>
          </a:xfrm>
          <a:prstGeom prst="rect">
            <a:avLst/>
          </a:prstGeom>
          <a:noFill/>
        </p:spPr>
        <p:txBody>
          <a:bodyPr wrap="square" lIns="0" rIns="0" tIns="0" bIns="0">
            <a:spAutoFit/>
          </a:bodyPr>
          <a:lstStyle/>
          <a:p>
            <a:pPr algn="l"/>
            <a:r>
              <a:rPr sz="1500" b="1" i="0">
                <a:solidFill>
                  <a:srgbClr val="02C39A"/>
                </a:solidFill>
                <a:latin typeface="Calibri"/>
              </a:rPr>
              <a:t>#3 RDS public</a:t>
            </a:r>
          </a:p>
        </p:txBody>
      </p:sp>
      <p:sp>
        <p:nvSpPr>
          <p:cNvPr id="6" name="TextBox 5"/>
          <p:cNvSpPr txBox="1"/>
          <p:nvPr/>
        </p:nvSpPr>
        <p:spPr>
          <a:xfrm>
            <a:off x="4023360" y="2176272"/>
            <a:ext cx="7315200" cy="777240"/>
          </a:xfrm>
          <a:prstGeom prst="rect">
            <a:avLst/>
          </a:prstGeom>
          <a:noFill/>
        </p:spPr>
        <p:txBody>
          <a:bodyPr wrap="square" lIns="0" rIns="0" tIns="0" bIns="0">
            <a:spAutoFit/>
          </a:bodyPr>
          <a:lstStyle/>
          <a:p>
            <a:pPr algn="l">
              <a:lnSpc>
                <a:spcPct val="120000"/>
              </a:lnSpc>
            </a:pPr>
            <a:r>
              <a:rPr sz="1300" b="0" i="0">
                <a:solidFill>
                  <a:srgbClr val="F4F6F8"/>
                </a:solidFill>
                <a:latin typeface="Calibri"/>
              </a:rPr>
              <a:t>Prowler checks real security-group reachability, not just the flag alone.</a:t>
            </a:r>
          </a:p>
        </p:txBody>
      </p:sp>
      <p:sp>
        <p:nvSpPr>
          <p:cNvPr id="7" name="Rounded Rectangle 6"/>
          <p:cNvSpPr/>
          <p:nvPr/>
        </p:nvSpPr>
        <p:spPr>
          <a:xfrm>
            <a:off x="640080" y="3246120"/>
            <a:ext cx="10881360" cy="1051560"/>
          </a:xfrm>
          <a:prstGeom prst="roundRect">
            <a:avLst/>
          </a:prstGeom>
          <a:solidFill>
            <a:srgbClr val="16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2926080" cy="777240"/>
          </a:xfrm>
          <a:prstGeom prst="rect">
            <a:avLst/>
          </a:prstGeom>
          <a:noFill/>
        </p:spPr>
        <p:txBody>
          <a:bodyPr wrap="square" lIns="0" rIns="0" tIns="0" bIns="0">
            <a:spAutoFit/>
          </a:bodyPr>
          <a:lstStyle/>
          <a:p>
            <a:pPr algn="l"/>
            <a:r>
              <a:rPr sz="1500" b="1" i="0">
                <a:solidFill>
                  <a:srgbClr val="02C39A"/>
                </a:solidFill>
                <a:latin typeface="Calibri"/>
              </a:rPr>
              <a:t>#6 IAM wildcard policy</a:t>
            </a:r>
          </a:p>
        </p:txBody>
      </p:sp>
      <p:sp>
        <p:nvSpPr>
          <p:cNvPr id="9" name="TextBox 8"/>
          <p:cNvSpPr txBox="1"/>
          <p:nvPr/>
        </p:nvSpPr>
        <p:spPr>
          <a:xfrm>
            <a:off x="4023360" y="3410712"/>
            <a:ext cx="7315200" cy="777240"/>
          </a:xfrm>
          <a:prstGeom prst="rect">
            <a:avLst/>
          </a:prstGeom>
          <a:noFill/>
        </p:spPr>
        <p:txBody>
          <a:bodyPr wrap="square" lIns="0" rIns="0" tIns="0" bIns="0">
            <a:spAutoFit/>
          </a:bodyPr>
          <a:lstStyle/>
          <a:p>
            <a:pPr algn="l">
              <a:lnSpc>
                <a:spcPct val="120000"/>
              </a:lnSpc>
            </a:pPr>
            <a:r>
              <a:rPr sz="1300" b="0" i="0">
                <a:solidFill>
                  <a:srgbClr val="F4F6F8"/>
                </a:solidFill>
                <a:latin typeface="Calibri"/>
              </a:rPr>
              <a:t>No check exists for a custom inline policy with a wildcard scoped to one service.</a:t>
            </a:r>
          </a:p>
        </p:txBody>
      </p:sp>
      <p:sp>
        <p:nvSpPr>
          <p:cNvPr id="10" name="Rounded Rectangle 9"/>
          <p:cNvSpPr/>
          <p:nvPr/>
        </p:nvSpPr>
        <p:spPr>
          <a:xfrm>
            <a:off x="640080" y="4480560"/>
            <a:ext cx="10881360" cy="1051560"/>
          </a:xfrm>
          <a:prstGeom prst="roundRect">
            <a:avLst/>
          </a:prstGeom>
          <a:solidFill>
            <a:srgbClr val="16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617720"/>
            <a:ext cx="2926080" cy="777240"/>
          </a:xfrm>
          <a:prstGeom prst="rect">
            <a:avLst/>
          </a:prstGeom>
          <a:noFill/>
        </p:spPr>
        <p:txBody>
          <a:bodyPr wrap="square" lIns="0" rIns="0" tIns="0" bIns="0">
            <a:spAutoFit/>
          </a:bodyPr>
          <a:lstStyle/>
          <a:p>
            <a:pPr algn="l"/>
            <a:r>
              <a:rPr sz="1500" b="1" i="0">
                <a:solidFill>
                  <a:srgbClr val="02C39A"/>
                </a:solidFill>
                <a:latin typeface="Calibri"/>
              </a:rPr>
              <a:t>#7 Public trust policy</a:t>
            </a:r>
          </a:p>
        </p:txBody>
      </p:sp>
      <p:sp>
        <p:nvSpPr>
          <p:cNvPr id="12" name="TextBox 11"/>
          <p:cNvSpPr txBox="1"/>
          <p:nvPr/>
        </p:nvSpPr>
        <p:spPr>
          <a:xfrm>
            <a:off x="4023360" y="4645152"/>
            <a:ext cx="7315200" cy="777240"/>
          </a:xfrm>
          <a:prstGeom prst="rect">
            <a:avLst/>
          </a:prstGeom>
          <a:noFill/>
        </p:spPr>
        <p:txBody>
          <a:bodyPr wrap="square" lIns="0" rIns="0" tIns="0" bIns="0">
            <a:spAutoFit/>
          </a:bodyPr>
          <a:lstStyle/>
          <a:p>
            <a:pPr algn="l">
              <a:lnSpc>
                <a:spcPct val="120000"/>
              </a:lnSpc>
            </a:pPr>
            <a:r>
              <a:rPr sz="1300" b="0" i="0">
                <a:solidFill>
                  <a:srgbClr val="F4F6F8"/>
                </a:solidFill>
                <a:latin typeface="Calibri"/>
              </a:rPr>
              <a:t>Only fires when combined with the AWS-managed ReadOnlyAccess policy attached.</a:t>
            </a:r>
          </a:p>
        </p:txBody>
      </p:sp>
      <p:sp>
        <p:nvSpPr>
          <p:cNvPr id="13" name="TextBox 12"/>
          <p:cNvSpPr txBox="1"/>
          <p:nvPr/>
        </p:nvSpPr>
        <p:spPr>
          <a:xfrm>
            <a:off x="640080" y="5806440"/>
            <a:ext cx="10881360" cy="548640"/>
          </a:xfrm>
          <a:prstGeom prst="rect">
            <a:avLst/>
          </a:prstGeom>
          <a:noFill/>
        </p:spPr>
        <p:txBody>
          <a:bodyPr wrap="square" lIns="0" rIns="0" tIns="0" bIns="0">
            <a:spAutoFit/>
          </a:bodyPr>
          <a:lstStyle/>
          <a:p>
            <a:pPr algn="l"/>
            <a:r>
              <a:rPr sz="1400" b="1" i="0">
                <a:solidFill>
                  <a:srgbClr val="FFFFFF"/>
                </a:solidFill>
                <a:latin typeface="Calibri"/>
              </a:rPr>
              <a:t>Fix: Terraform revised to match the scanner's real detection logic — re-scanned and confirmed via the same diff method.</a:t>
            </a:r>
          </a:p>
        </p:txBody>
      </p:sp>
      <p:sp>
        <p:nvSpPr>
          <p:cNvPr id="14" name="TextBox 13"/>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2700" b="1" i="0">
                <a:solidFill>
                  <a:srgbClr val="0B1F3A"/>
                </a:solidFill>
                <a:latin typeface="Calibri"/>
              </a:rPr>
              <a:t>Misconfig #3: Left Undetected — On Purpose</a:t>
            </a:r>
          </a:p>
        </p:txBody>
      </p:sp>
      <p:sp>
        <p:nvSpPr>
          <p:cNvPr id="3" name="Rounded Rectangle 2"/>
          <p:cNvSpPr/>
          <p:nvPr/>
        </p:nvSpPr>
        <p:spPr>
          <a:xfrm>
            <a:off x="640080" y="1463040"/>
            <a:ext cx="1088136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005840"/>
          </a:xfrm>
          <a:prstGeom prst="rect">
            <a:avLst/>
          </a:prstGeom>
          <a:noFill/>
        </p:spPr>
        <p:txBody>
          <a:bodyPr wrap="square" lIns="0" rIns="0" tIns="0" bIns="0">
            <a:spAutoFit/>
          </a:bodyPr>
          <a:lstStyle/>
          <a:p>
            <a:pPr algn="l">
              <a:lnSpc>
                <a:spcPct val="130000"/>
              </a:lnSpc>
            </a:pPr>
            <a:r>
              <a:rPr sz="1400" b="0" i="1">
                <a:solidFill>
                  <a:srgbClr val="1A1A1A"/>
                </a:solidFill>
                <a:latin typeface="Calibri"/>
              </a:rPr>
              <a:t>"RDS Instance ref3tier-dev-db is set as publicly accessible and security group ... has mysql port 3306 open to the Internet ... but is not in a public subnet."</a:t>
            </a:r>
          </a:p>
        </p:txBody>
      </p:sp>
      <p:sp>
        <p:nvSpPr>
          <p:cNvPr id="5" name="TextBox 4"/>
          <p:cNvSpPr txBox="1"/>
          <p:nvPr/>
        </p:nvSpPr>
        <p:spPr>
          <a:xfrm>
            <a:off x="914400" y="2514600"/>
            <a:ext cx="10332720" cy="274320"/>
          </a:xfrm>
          <a:prstGeom prst="rect">
            <a:avLst/>
          </a:prstGeom>
          <a:noFill/>
        </p:spPr>
        <p:txBody>
          <a:bodyPr wrap="square" lIns="0" rIns="0" tIns="0" bIns="0">
            <a:spAutoFit/>
          </a:bodyPr>
          <a:lstStyle/>
          <a:p>
            <a:pPr algn="l"/>
            <a:r>
              <a:rPr sz="1100" b="0" i="0">
                <a:solidFill>
                  <a:srgbClr val="6B7A8F"/>
                </a:solidFill>
                <a:latin typeface="Calibri"/>
              </a:rPr>
              <a:t>— Prowler's own STATUS_EXTENDED text</a:t>
            </a:r>
          </a:p>
        </p:txBody>
      </p:sp>
      <p:sp>
        <p:nvSpPr>
          <p:cNvPr id="6" name="Oval 5"/>
          <p:cNvSpPr/>
          <p:nvPr/>
        </p:nvSpPr>
        <p:spPr>
          <a:xfrm>
            <a:off x="822960" y="3246120"/>
            <a:ext cx="457200" cy="4572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rPr>
              <a:t>✕</a:t>
            </a:r>
          </a:p>
        </p:txBody>
      </p:sp>
      <p:sp>
        <p:nvSpPr>
          <p:cNvPr id="7" name="TextBox 6"/>
          <p:cNvSpPr txBox="1"/>
          <p:nvPr/>
        </p:nvSpPr>
        <p:spPr>
          <a:xfrm>
            <a:off x="1463040" y="3291840"/>
            <a:ext cx="9601200" cy="457200"/>
          </a:xfrm>
          <a:prstGeom prst="rect">
            <a:avLst/>
          </a:prstGeom>
          <a:noFill/>
        </p:spPr>
        <p:txBody>
          <a:bodyPr wrap="square" lIns="0" rIns="0" tIns="0" bIns="0">
            <a:spAutoFit/>
          </a:bodyPr>
          <a:lstStyle/>
          <a:p>
            <a:pPr algn="l"/>
            <a:r>
              <a:rPr sz="1500" b="0" i="0">
                <a:solidFill>
                  <a:srgbClr val="1A1A1A"/>
                </a:solidFill>
                <a:latin typeface="Calibri"/>
              </a:rPr>
              <a:t>The flag is set. The security group is open. Both are real, intentional changes.</a:t>
            </a:r>
          </a:p>
        </p:txBody>
      </p:sp>
      <p:sp>
        <p:nvSpPr>
          <p:cNvPr id="8" name="Oval 7"/>
          <p:cNvSpPr/>
          <p:nvPr/>
        </p:nvSpPr>
        <p:spPr>
          <a:xfrm>
            <a:off x="822960" y="3886200"/>
            <a:ext cx="457200" cy="45720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rPr>
              <a:t>✓</a:t>
            </a:r>
          </a:p>
        </p:txBody>
      </p:sp>
      <p:sp>
        <p:nvSpPr>
          <p:cNvPr id="9" name="TextBox 8"/>
          <p:cNvSpPr txBox="1"/>
          <p:nvPr/>
        </p:nvSpPr>
        <p:spPr>
          <a:xfrm>
            <a:off x="1463040" y="3931920"/>
            <a:ext cx="9601200" cy="457200"/>
          </a:xfrm>
          <a:prstGeom prst="rect">
            <a:avLst/>
          </a:prstGeom>
          <a:noFill/>
        </p:spPr>
        <p:txBody>
          <a:bodyPr wrap="square" lIns="0" rIns="0" tIns="0" bIns="0">
            <a:spAutoFit/>
          </a:bodyPr>
          <a:lstStyle/>
          <a:p>
            <a:pPr algn="l"/>
            <a:r>
              <a:rPr sz="1500" b="0" i="0">
                <a:solidFill>
                  <a:srgbClr val="1A1A1A"/>
                </a:solidFill>
                <a:latin typeface="Calibri"/>
              </a:rPr>
              <a:t>But the data subnet's route table has no path to the Internet Gateway.</a:t>
            </a:r>
          </a:p>
        </p:txBody>
      </p:sp>
      <p:sp>
        <p:nvSpPr>
          <p:cNvPr id="10" name="Oval 9"/>
          <p:cNvSpPr/>
          <p:nvPr/>
        </p:nvSpPr>
        <p:spPr>
          <a:xfrm>
            <a:off x="822960" y="4526280"/>
            <a:ext cx="457200" cy="45720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rPr>
              <a:t>→</a:t>
            </a:r>
          </a:p>
        </p:txBody>
      </p:sp>
      <p:sp>
        <p:nvSpPr>
          <p:cNvPr id="11" name="TextBox 10"/>
          <p:cNvSpPr txBox="1"/>
          <p:nvPr/>
        </p:nvSpPr>
        <p:spPr>
          <a:xfrm>
            <a:off x="1463040" y="4572000"/>
            <a:ext cx="9601200" cy="457200"/>
          </a:xfrm>
          <a:prstGeom prst="rect">
            <a:avLst/>
          </a:prstGeom>
          <a:noFill/>
        </p:spPr>
        <p:txBody>
          <a:bodyPr wrap="square" lIns="0" rIns="0" tIns="0" bIns="0">
            <a:spAutoFit/>
          </a:bodyPr>
          <a:lstStyle/>
          <a:p>
            <a:pPr algn="l"/>
            <a:r>
              <a:rPr sz="1500" b="1" i="0">
                <a:solidFill>
                  <a:srgbClr val="0B1F3A"/>
                </a:solidFill>
                <a:latin typeface="Calibri"/>
              </a:rPr>
              <a:t>Result: genuinely no network path exists. Defense-in-depth, working as intended.</a:t>
            </a:r>
          </a:p>
        </p:txBody>
      </p:sp>
      <p:sp>
        <p:nvSpPr>
          <p:cNvPr id="12" name="Rounded Rectangle 11"/>
          <p:cNvSpPr/>
          <p:nvPr/>
        </p:nvSpPr>
        <p:spPr>
          <a:xfrm>
            <a:off x="640080" y="5349240"/>
            <a:ext cx="10881360" cy="10058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04688"/>
            <a:ext cx="10332720" cy="731520"/>
          </a:xfrm>
          <a:prstGeom prst="rect">
            <a:avLst/>
          </a:prstGeom>
          <a:noFill/>
        </p:spPr>
        <p:txBody>
          <a:bodyPr wrap="square" lIns="0" rIns="0" tIns="0" bIns="0">
            <a:spAutoFit/>
          </a:bodyPr>
          <a:lstStyle/>
          <a:p>
            <a:pPr algn="l">
              <a:lnSpc>
                <a:spcPct val="120000"/>
              </a:lnSpc>
            </a:pPr>
            <a:r>
              <a:rPr sz="1350" b="0" i="0">
                <a:solidFill>
                  <a:srgbClr val="FFFFFF"/>
                </a:solidFill>
                <a:latin typeface="Calibri"/>
              </a:rPr>
              <a:t>Decision: document as a real finding rather than reroute the subnet just to force a 7th checkmark — a stronger, more honest result than a forced clean sweep.</a:t>
            </a:r>
          </a:p>
        </p:txBody>
      </p:sp>
      <p:sp>
        <p:nvSpPr>
          <p:cNvPr id="14" name="TextBox 13"/>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6B7A8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3000" b="1" i="0">
                <a:solidFill>
                  <a:srgbClr val="0B1F3A"/>
                </a:solidFill>
                <a:latin typeface="Calibri"/>
              </a:rPr>
              <a:t>Prioritization Model</a:t>
            </a:r>
          </a:p>
        </p:txBody>
      </p:sp>
      <p:sp>
        <p:nvSpPr>
          <p:cNvPr id="3" name="TextBox 2"/>
          <p:cNvSpPr txBox="1"/>
          <p:nvPr/>
        </p:nvSpPr>
        <p:spPr>
          <a:xfrm>
            <a:off x="640080" y="1143000"/>
            <a:ext cx="10515600" cy="457200"/>
          </a:xfrm>
          <a:prstGeom prst="rect">
            <a:avLst/>
          </a:prstGeom>
          <a:noFill/>
        </p:spPr>
        <p:txBody>
          <a:bodyPr wrap="square" lIns="0" rIns="0" tIns="0" bIns="0">
            <a:spAutoFit/>
          </a:bodyPr>
          <a:lstStyle/>
          <a:p>
            <a:pPr algn="l"/>
            <a:r>
              <a:rPr sz="1600" b="1" i="1">
                <a:solidFill>
                  <a:srgbClr val="1C7293"/>
                </a:solidFill>
                <a:latin typeface="Calibri"/>
              </a:rPr>
              <a:t>priority_score = severity_score x exposure_score x blast_radius_score</a:t>
            </a:r>
          </a:p>
        </p:txBody>
      </p:sp>
      <p:sp>
        <p:nvSpPr>
          <p:cNvPr id="4" name="Rounded Rectangle 3"/>
          <p:cNvSpPr/>
          <p:nvPr/>
        </p:nvSpPr>
        <p:spPr>
          <a:xfrm>
            <a:off x="640080" y="1920240"/>
            <a:ext cx="3520440" cy="283464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48840"/>
            <a:ext cx="3017520" cy="457200"/>
          </a:xfrm>
          <a:prstGeom prst="rect">
            <a:avLst/>
          </a:prstGeom>
          <a:noFill/>
        </p:spPr>
        <p:txBody>
          <a:bodyPr wrap="square" lIns="0" rIns="0" tIns="0" bIns="0">
            <a:spAutoFit/>
          </a:bodyPr>
          <a:lstStyle/>
          <a:p>
            <a:pPr algn="l"/>
            <a:r>
              <a:rPr sz="1600" b="1" i="0">
                <a:solidFill>
                  <a:srgbClr val="0B1F3A"/>
                </a:solidFill>
                <a:latin typeface="Calibri"/>
              </a:rPr>
              <a:t>severity_score</a:t>
            </a:r>
          </a:p>
        </p:txBody>
      </p:sp>
      <p:sp>
        <p:nvSpPr>
          <p:cNvPr id="6" name="TextBox 5"/>
          <p:cNvSpPr txBox="1"/>
          <p:nvPr/>
        </p:nvSpPr>
        <p:spPr>
          <a:xfrm>
            <a:off x="914400" y="2606040"/>
            <a:ext cx="3017520" cy="457200"/>
          </a:xfrm>
          <a:prstGeom prst="rect">
            <a:avLst/>
          </a:prstGeom>
          <a:noFill/>
        </p:spPr>
        <p:txBody>
          <a:bodyPr wrap="square" lIns="0" rIns="0" tIns="0" bIns="0">
            <a:spAutoFit/>
          </a:bodyPr>
          <a:lstStyle/>
          <a:p>
            <a:pPr algn="l"/>
            <a:r>
              <a:rPr sz="2200" b="1" i="0">
                <a:solidFill>
                  <a:srgbClr val="02C39A"/>
                </a:solidFill>
                <a:latin typeface="Calibri"/>
              </a:rPr>
              <a:t>2.5 - 10.0</a:t>
            </a:r>
          </a:p>
        </p:txBody>
      </p:sp>
      <p:sp>
        <p:nvSpPr>
          <p:cNvPr id="7" name="TextBox 6"/>
          <p:cNvSpPr txBox="1"/>
          <p:nvPr/>
        </p:nvSpPr>
        <p:spPr>
          <a:xfrm>
            <a:off x="914400" y="3200400"/>
            <a:ext cx="3017520" cy="1463040"/>
          </a:xfrm>
          <a:prstGeom prst="rect">
            <a:avLst/>
          </a:prstGeom>
          <a:noFill/>
        </p:spPr>
        <p:txBody>
          <a:bodyPr wrap="square" lIns="0" rIns="0" tIns="0" bIns="0">
            <a:spAutoFit/>
          </a:bodyPr>
          <a:lstStyle/>
          <a:p>
            <a:pPr algn="l">
              <a:lnSpc>
                <a:spcPct val="125000"/>
              </a:lnSpc>
            </a:pPr>
            <a:r>
              <a:rPr sz="1200" b="0" i="0">
                <a:solidFill>
                  <a:srgbClr val="1A1A1A"/>
                </a:solidFill>
                <a:latin typeface="Calibri"/>
              </a:rPr>
              <a:t>CVSS-band proxy from Prowler's own LOW/MEDIUM/HIGH/CRITICAL rating</a:t>
            </a:r>
          </a:p>
        </p:txBody>
      </p:sp>
      <p:sp>
        <p:nvSpPr>
          <p:cNvPr id="8" name="Rounded Rectangle 7"/>
          <p:cNvSpPr/>
          <p:nvPr/>
        </p:nvSpPr>
        <p:spPr>
          <a:xfrm>
            <a:off x="4389119" y="1920240"/>
            <a:ext cx="3520440" cy="283464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39" y="2148840"/>
            <a:ext cx="3017520" cy="457200"/>
          </a:xfrm>
          <a:prstGeom prst="rect">
            <a:avLst/>
          </a:prstGeom>
          <a:noFill/>
        </p:spPr>
        <p:txBody>
          <a:bodyPr wrap="square" lIns="0" rIns="0" tIns="0" bIns="0">
            <a:spAutoFit/>
          </a:bodyPr>
          <a:lstStyle/>
          <a:p>
            <a:pPr algn="l"/>
            <a:r>
              <a:rPr sz="1600" b="1" i="0">
                <a:solidFill>
                  <a:srgbClr val="0B1F3A"/>
                </a:solidFill>
                <a:latin typeface="Calibri"/>
              </a:rPr>
              <a:t>exposure_score</a:t>
            </a:r>
          </a:p>
        </p:txBody>
      </p:sp>
      <p:sp>
        <p:nvSpPr>
          <p:cNvPr id="10" name="TextBox 9"/>
          <p:cNvSpPr txBox="1"/>
          <p:nvPr/>
        </p:nvSpPr>
        <p:spPr>
          <a:xfrm>
            <a:off x="4663439" y="2606040"/>
            <a:ext cx="3017520" cy="457200"/>
          </a:xfrm>
          <a:prstGeom prst="rect">
            <a:avLst/>
          </a:prstGeom>
          <a:noFill/>
        </p:spPr>
        <p:txBody>
          <a:bodyPr wrap="square" lIns="0" rIns="0" tIns="0" bIns="0">
            <a:spAutoFit/>
          </a:bodyPr>
          <a:lstStyle/>
          <a:p>
            <a:pPr algn="l"/>
            <a:r>
              <a:rPr sz="2200" b="1" i="0">
                <a:solidFill>
                  <a:srgbClr val="02C39A"/>
                </a:solidFill>
                <a:latin typeface="Calibri"/>
              </a:rPr>
              <a:t>0.3 - 1.0</a:t>
            </a:r>
          </a:p>
        </p:txBody>
      </p:sp>
      <p:sp>
        <p:nvSpPr>
          <p:cNvPr id="11" name="TextBox 10"/>
          <p:cNvSpPr txBox="1"/>
          <p:nvPr/>
        </p:nvSpPr>
        <p:spPr>
          <a:xfrm>
            <a:off x="4663439" y="3200400"/>
            <a:ext cx="3017520" cy="1463040"/>
          </a:xfrm>
          <a:prstGeom prst="rect">
            <a:avLst/>
          </a:prstGeom>
          <a:noFill/>
        </p:spPr>
        <p:txBody>
          <a:bodyPr wrap="square" lIns="0" rIns="0" tIns="0" bIns="0">
            <a:spAutoFit/>
          </a:bodyPr>
          <a:lstStyle/>
          <a:p>
            <a:pPr algn="l">
              <a:lnSpc>
                <a:spcPct val="125000"/>
              </a:lnSpc>
            </a:pPr>
            <a:r>
              <a:rPr sz="1200" b="0" i="0">
                <a:solidFill>
                  <a:srgbClr val="1A1A1A"/>
                </a:solidFill>
                <a:latin typeface="Calibri"/>
              </a:rPr>
              <a:t>Keyword heuristic: public/external checks score highest, detective-control gaps lowest</a:t>
            </a:r>
          </a:p>
        </p:txBody>
      </p:sp>
      <p:sp>
        <p:nvSpPr>
          <p:cNvPr id="12" name="Rounded Rectangle 11"/>
          <p:cNvSpPr/>
          <p:nvPr/>
        </p:nvSpPr>
        <p:spPr>
          <a:xfrm>
            <a:off x="8138158" y="1920240"/>
            <a:ext cx="3520440" cy="283464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8" y="2148840"/>
            <a:ext cx="3017520" cy="457200"/>
          </a:xfrm>
          <a:prstGeom prst="rect">
            <a:avLst/>
          </a:prstGeom>
          <a:noFill/>
        </p:spPr>
        <p:txBody>
          <a:bodyPr wrap="square" lIns="0" rIns="0" tIns="0" bIns="0">
            <a:spAutoFit/>
          </a:bodyPr>
          <a:lstStyle/>
          <a:p>
            <a:pPr algn="l"/>
            <a:r>
              <a:rPr sz="1600" b="1" i="0">
                <a:solidFill>
                  <a:srgbClr val="0B1F3A"/>
                </a:solidFill>
                <a:latin typeface="Calibri"/>
              </a:rPr>
              <a:t>blast_radius_score</a:t>
            </a:r>
          </a:p>
        </p:txBody>
      </p:sp>
      <p:sp>
        <p:nvSpPr>
          <p:cNvPr id="14" name="TextBox 13"/>
          <p:cNvSpPr txBox="1"/>
          <p:nvPr/>
        </p:nvSpPr>
        <p:spPr>
          <a:xfrm>
            <a:off x="8412478" y="2606040"/>
            <a:ext cx="3017520" cy="457200"/>
          </a:xfrm>
          <a:prstGeom prst="rect">
            <a:avLst/>
          </a:prstGeom>
          <a:noFill/>
        </p:spPr>
        <p:txBody>
          <a:bodyPr wrap="square" lIns="0" rIns="0" tIns="0" bIns="0">
            <a:spAutoFit/>
          </a:bodyPr>
          <a:lstStyle/>
          <a:p>
            <a:pPr algn="l"/>
            <a:r>
              <a:rPr sz="2200" b="1" i="0">
                <a:solidFill>
                  <a:srgbClr val="02C39A"/>
                </a:solidFill>
                <a:latin typeface="Calibri"/>
              </a:rPr>
              <a:t>1 - 3</a:t>
            </a:r>
          </a:p>
        </p:txBody>
      </p:sp>
      <p:sp>
        <p:nvSpPr>
          <p:cNvPr id="15" name="TextBox 14"/>
          <p:cNvSpPr txBox="1"/>
          <p:nvPr/>
        </p:nvSpPr>
        <p:spPr>
          <a:xfrm>
            <a:off x="8412478" y="3200400"/>
            <a:ext cx="3017520" cy="1463040"/>
          </a:xfrm>
          <a:prstGeom prst="rect">
            <a:avLst/>
          </a:prstGeom>
          <a:noFill/>
        </p:spPr>
        <p:txBody>
          <a:bodyPr wrap="square" lIns="0" rIns="0" tIns="0" bIns="0">
            <a:spAutoFit/>
          </a:bodyPr>
          <a:lstStyle/>
          <a:p>
            <a:pPr algn="l">
              <a:lnSpc>
                <a:spcPct val="125000"/>
              </a:lnSpc>
            </a:pPr>
            <a:r>
              <a:rPr sz="1200" b="0" i="0">
                <a:solidFill>
                  <a:srgbClr val="1A1A1A"/>
                </a:solidFill>
                <a:latin typeface="Calibri"/>
              </a:rPr>
              <a:t>3=account-wide (IAM, CloudTrail), 2=multi-resource (subnet/SG), 1=single-resource</a:t>
            </a:r>
          </a:p>
        </p:txBody>
      </p:sp>
      <p:sp>
        <p:nvSpPr>
          <p:cNvPr id="16" name="TextBox 15"/>
          <p:cNvSpPr txBox="1"/>
          <p:nvPr/>
        </p:nvSpPr>
        <p:spPr>
          <a:xfrm>
            <a:off x="640080" y="5029200"/>
            <a:ext cx="10881360" cy="365760"/>
          </a:xfrm>
          <a:prstGeom prst="rect">
            <a:avLst/>
          </a:prstGeom>
          <a:noFill/>
        </p:spPr>
        <p:txBody>
          <a:bodyPr wrap="square" lIns="0" rIns="0" tIns="0" bIns="0">
            <a:spAutoFit/>
          </a:bodyPr>
          <a:lstStyle/>
          <a:p>
            <a:pPr algn="l"/>
            <a:r>
              <a:rPr sz="1400" b="1" i="0">
                <a:solidFill>
                  <a:srgbClr val="0B1F3A"/>
                </a:solidFill>
                <a:latin typeface="Calibri"/>
              </a:rPr>
              <a:t>Top of the ranked backlog:</a:t>
            </a:r>
          </a:p>
        </p:txBody>
      </p:sp>
      <p:sp>
        <p:nvSpPr>
          <p:cNvPr id="17" name="TextBox 16"/>
          <p:cNvSpPr txBox="1"/>
          <p:nvPr/>
        </p:nvSpPr>
        <p:spPr>
          <a:xfrm>
            <a:off x="822960" y="5440680"/>
            <a:ext cx="10332720" cy="1188720"/>
          </a:xfrm>
          <a:prstGeom prst="rect">
            <a:avLst/>
          </a:prstGeom>
          <a:noFill/>
        </p:spPr>
        <p:txBody>
          <a:bodyPr wrap="square" lIns="0" rIns="0">
            <a:spAutoFit/>
          </a:bodyPr>
          <a:lstStyle/>
          <a:p>
            <a:pPr algn="l">
              <a:spcAft>
                <a:spcPts val="600"/>
              </a:spcAft>
            </a:pPr>
            <a:r>
              <a:rPr sz="1300">
                <a:solidFill>
                  <a:srgbClr val="1A1A1A"/>
                </a:solidFill>
                <a:latin typeface="Calibri"/>
              </a:rPr>
              <a:t>•  IAM cross-account trust + ReadOnlyAccess (misconfig #7) — score 93.8</a:t>
            </a:r>
          </a:p>
          <a:p>
            <a:pPr algn="l">
              <a:spcAft>
                <a:spcPts val="600"/>
              </a:spcAft>
            </a:pPr>
            <a:r>
              <a:rPr sz="1300">
                <a:solidFill>
                  <a:srgbClr val="1A1A1A"/>
                </a:solidFill>
                <a:latin typeface="Calibri"/>
              </a:rPr>
              <a:t>•  IAM AdministratorAccess attached (misconfig #6) — score 75.0</a:t>
            </a:r>
          </a:p>
          <a:p>
            <a:pPr algn="l">
              <a:spcAft>
                <a:spcPts val="600"/>
              </a:spcAft>
            </a:pPr>
            <a:r>
              <a:rPr sz="1300">
                <a:solidFill>
                  <a:srgbClr val="1A1A1A"/>
                </a:solidFill>
                <a:latin typeface="Calibri"/>
              </a:rPr>
              <a:t>•  Encryption-at-rest gaps and CloudTrail absence rank lowest — matches security intuition</a:t>
            </a:r>
          </a:p>
        </p:txBody>
      </p:sp>
      <p:sp>
        <p:nvSpPr>
          <p:cNvPr id="18" name="TextBox 17"/>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6B7A8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2700" b="1" i="0">
                <a:solidFill>
                  <a:srgbClr val="FFFFFF"/>
                </a:solidFill>
                <a:latin typeface="Calibri"/>
              </a:rPr>
              <a:t>LLM-Generated, Verified Remediation Guidance</a:t>
            </a:r>
          </a:p>
        </p:txBody>
      </p:sp>
      <p:sp>
        <p:nvSpPr>
          <p:cNvPr id="3" name="TextBox 2"/>
          <p:cNvSpPr txBox="1"/>
          <p:nvPr/>
        </p:nvSpPr>
        <p:spPr>
          <a:xfrm>
            <a:off x="640080" y="1188720"/>
            <a:ext cx="10515600" cy="457200"/>
          </a:xfrm>
          <a:prstGeom prst="rect">
            <a:avLst/>
          </a:prstGeom>
          <a:noFill/>
        </p:spPr>
        <p:txBody>
          <a:bodyPr wrap="square" lIns="0" rIns="0" tIns="0" bIns="0">
            <a:spAutoFit/>
          </a:bodyPr>
          <a:lstStyle/>
          <a:p>
            <a:pPr algn="l"/>
            <a:r>
              <a:rPr sz="1400" b="0" i="1">
                <a:solidFill>
                  <a:srgbClr val="02C39A"/>
                </a:solidFill>
                <a:latin typeface="Calibri"/>
              </a:rPr>
              <a:t>Model: Claude (Anthropic). No credentials, secrets, or customer data ever entered any prompt.</a:t>
            </a:r>
          </a:p>
        </p:txBody>
      </p:sp>
      <p:sp>
        <p:nvSpPr>
          <p:cNvPr id="4" name="Rounded Rectangle 3"/>
          <p:cNvSpPr/>
          <p:nvPr/>
        </p:nvSpPr>
        <p:spPr>
          <a:xfrm>
            <a:off x="640080" y="1920240"/>
            <a:ext cx="10881360" cy="1828800"/>
          </a:xfrm>
          <a:prstGeom prst="roundRect">
            <a:avLst/>
          </a:prstGeom>
          <a:solidFill>
            <a:srgbClr val="16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10332720" cy="365760"/>
          </a:xfrm>
          <a:prstGeom prst="rect">
            <a:avLst/>
          </a:prstGeom>
          <a:noFill/>
        </p:spPr>
        <p:txBody>
          <a:bodyPr wrap="square" lIns="0" rIns="0" tIns="0" bIns="0">
            <a:spAutoFit/>
          </a:bodyPr>
          <a:lstStyle/>
          <a:p>
            <a:pPr algn="l"/>
            <a:r>
              <a:rPr sz="1200" b="1" i="0">
                <a:solidFill>
                  <a:srgbClr val="02C39A"/>
                </a:solidFill>
                <a:latin typeface="Calibri"/>
              </a:rPr>
              <a:t>RAW (Prowler status_extended):</a:t>
            </a:r>
          </a:p>
        </p:txBody>
      </p:sp>
      <p:sp>
        <p:nvSpPr>
          <p:cNvPr id="6" name="TextBox 5"/>
          <p:cNvSpPr txBox="1"/>
          <p:nvPr/>
        </p:nvSpPr>
        <p:spPr>
          <a:xfrm>
            <a:off x="914400" y="2468880"/>
            <a:ext cx="10332720" cy="457200"/>
          </a:xfrm>
          <a:prstGeom prst="rect">
            <a:avLst/>
          </a:prstGeom>
          <a:noFill/>
        </p:spPr>
        <p:txBody>
          <a:bodyPr wrap="square" lIns="0" rIns="0" tIns="0" bIns="0">
            <a:spAutoFit/>
          </a:bodyPr>
          <a:lstStyle/>
          <a:p>
            <a:pPr algn="l"/>
            <a:r>
              <a:rPr sz="1300" b="0" i="1">
                <a:solidFill>
                  <a:srgbClr val="F4F6F8"/>
                </a:solidFill>
                <a:latin typeface="Calibri"/>
              </a:rPr>
              <a:t>"IAM Role ref3tier-dev-web-role has AdministratorAccess policy attached."</a:t>
            </a:r>
          </a:p>
        </p:txBody>
      </p:sp>
      <p:sp>
        <p:nvSpPr>
          <p:cNvPr id="7" name="TextBox 6"/>
          <p:cNvSpPr txBox="1"/>
          <p:nvPr/>
        </p:nvSpPr>
        <p:spPr>
          <a:xfrm>
            <a:off x="914400" y="3017520"/>
            <a:ext cx="10332720" cy="365760"/>
          </a:xfrm>
          <a:prstGeom prst="rect">
            <a:avLst/>
          </a:prstGeom>
          <a:noFill/>
        </p:spPr>
        <p:txBody>
          <a:bodyPr wrap="square" lIns="0" rIns="0" tIns="0" bIns="0">
            <a:spAutoFit/>
          </a:bodyPr>
          <a:lstStyle/>
          <a:p>
            <a:pPr algn="l"/>
            <a:r>
              <a:rPr sz="1200" b="1" i="0">
                <a:solidFill>
                  <a:srgbClr val="02C39A"/>
                </a:solidFill>
                <a:latin typeface="Calibri"/>
              </a:rPr>
              <a:t>EXPLANATION (2 lines, generated):</a:t>
            </a:r>
          </a:p>
        </p:txBody>
      </p:sp>
      <p:sp>
        <p:nvSpPr>
          <p:cNvPr id="8" name="TextBox 7"/>
          <p:cNvSpPr txBox="1"/>
          <p:nvPr/>
        </p:nvSpPr>
        <p:spPr>
          <a:xfrm>
            <a:off x="914400" y="3383280"/>
            <a:ext cx="10332720" cy="822960"/>
          </a:xfrm>
          <a:prstGeom prst="rect">
            <a:avLst/>
          </a:prstGeom>
          <a:noFill/>
        </p:spPr>
        <p:txBody>
          <a:bodyPr wrap="square" lIns="0" rIns="0" tIns="0" bIns="0">
            <a:spAutoFit/>
          </a:bodyPr>
          <a:lstStyle/>
          <a:p>
            <a:pPr algn="l">
              <a:lnSpc>
                <a:spcPct val="120000"/>
              </a:lnSpc>
            </a:pPr>
            <a:r>
              <a:rPr sz="1300" b="0" i="0">
                <a:solidFill>
                  <a:srgbClr val="FFFFFF"/>
                </a:solidFill>
                <a:latin typeface="Calibri"/>
              </a:rPr>
              <a:t>The web server's IAM role — meant only to read/write one S3 bucket — also carries AWS's broadest possible permission set. If the web server is ever compromised, the attacker inherits full administrative control.</a:t>
            </a:r>
          </a:p>
        </p:txBody>
      </p:sp>
      <p:sp>
        <p:nvSpPr>
          <p:cNvPr id="9" name="Rounded Rectangle 8"/>
          <p:cNvSpPr/>
          <p:nvPr/>
        </p:nvSpPr>
        <p:spPr>
          <a:xfrm>
            <a:off x="640080" y="3977639"/>
            <a:ext cx="10881360" cy="17373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60520"/>
            <a:ext cx="10332720" cy="365760"/>
          </a:xfrm>
          <a:prstGeom prst="rect">
            <a:avLst/>
          </a:prstGeom>
          <a:noFill/>
        </p:spPr>
        <p:txBody>
          <a:bodyPr wrap="square" lIns="0" rIns="0" tIns="0" bIns="0">
            <a:spAutoFit/>
          </a:bodyPr>
          <a:lstStyle/>
          <a:p>
            <a:pPr algn="l"/>
            <a:r>
              <a:rPr sz="1200" b="1" i="0">
                <a:solidFill>
                  <a:srgbClr val="FFFFFF"/>
                </a:solidFill>
                <a:latin typeface="Calibri"/>
              </a:rPr>
              <a:t>VERIFICATION (required by rubric):</a:t>
            </a:r>
          </a:p>
        </p:txBody>
      </p:sp>
      <p:sp>
        <p:nvSpPr>
          <p:cNvPr id="11" name="TextBox 10"/>
          <p:cNvSpPr txBox="1"/>
          <p:nvPr/>
        </p:nvSpPr>
        <p:spPr>
          <a:xfrm>
            <a:off x="914400" y="4526280"/>
            <a:ext cx="10332720" cy="1051560"/>
          </a:xfrm>
          <a:prstGeom prst="rect">
            <a:avLst/>
          </a:prstGeom>
          <a:noFill/>
        </p:spPr>
        <p:txBody>
          <a:bodyPr wrap="square" lIns="0" rIns="0" tIns="0" bIns="0">
            <a:spAutoFit/>
          </a:bodyPr>
          <a:lstStyle/>
          <a:p>
            <a:pPr algn="l">
              <a:lnSpc>
                <a:spcPct val="125000"/>
              </a:lnSpc>
            </a:pPr>
            <a:r>
              <a:rPr sz="1300" b="0" i="0">
                <a:solidFill>
                  <a:srgbClr val="FFFFFF"/>
                </a:solidFill>
                <a:latin typeface="Calibri"/>
              </a:rPr>
              <a:t>Every explanation traces back to specific phrases in Prowler's raw output. Any claim not directly supported by the raw text was rejected and rewritten. 18 findings explained this way in llm/LLM_PROMPT_LIBRARY.md.</a:t>
            </a:r>
          </a:p>
        </p:txBody>
      </p:sp>
      <p:sp>
        <p:nvSpPr>
          <p:cNvPr id="12" name="TextBox 11"/>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2900" b="1" i="0">
                <a:solidFill>
                  <a:srgbClr val="0B1F3A"/>
                </a:solidFill>
                <a:latin typeface="Calibri"/>
              </a:rPr>
              <a:t>Auto-Remediation with Guardrails</a:t>
            </a:r>
          </a:p>
        </p:txBody>
      </p:sp>
      <p:sp>
        <p:nvSpPr>
          <p:cNvPr id="3" name="Rounded Rectangle 2"/>
          <p:cNvSpPr/>
          <p:nvPr/>
        </p:nvSpPr>
        <p:spPr>
          <a:xfrm>
            <a:off x="640080" y="1554480"/>
            <a:ext cx="3520440" cy="237744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8680" y="1783080"/>
            <a:ext cx="365760" cy="36576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rPr>
              <a:t/>
            </a:r>
          </a:p>
        </p:txBody>
      </p:sp>
      <p:sp>
        <p:nvSpPr>
          <p:cNvPr id="5" name="TextBox 4"/>
          <p:cNvSpPr txBox="1"/>
          <p:nvPr/>
        </p:nvSpPr>
        <p:spPr>
          <a:xfrm>
            <a:off x="1371600" y="1783080"/>
            <a:ext cx="2651760" cy="320040"/>
          </a:xfrm>
          <a:prstGeom prst="rect">
            <a:avLst/>
          </a:prstGeom>
          <a:noFill/>
        </p:spPr>
        <p:txBody>
          <a:bodyPr wrap="square" lIns="0" rIns="0" tIns="0" bIns="0">
            <a:spAutoFit/>
          </a:bodyPr>
          <a:lstStyle/>
          <a:p>
            <a:pPr algn="l"/>
            <a:r>
              <a:rPr sz="1200" b="1" i="0">
                <a:solidFill>
                  <a:srgbClr val="02C39A"/>
                </a:solidFill>
                <a:latin typeface="Calibri"/>
              </a:rPr>
              <a:t>SAFE FIX #1</a:t>
            </a:r>
          </a:p>
        </p:txBody>
      </p:sp>
      <p:sp>
        <p:nvSpPr>
          <p:cNvPr id="6" name="TextBox 5"/>
          <p:cNvSpPr txBox="1"/>
          <p:nvPr/>
        </p:nvSpPr>
        <p:spPr>
          <a:xfrm>
            <a:off x="914400" y="2240280"/>
            <a:ext cx="3017520" cy="822960"/>
          </a:xfrm>
          <a:prstGeom prst="rect">
            <a:avLst/>
          </a:prstGeom>
          <a:noFill/>
        </p:spPr>
        <p:txBody>
          <a:bodyPr wrap="square" lIns="0" rIns="0" tIns="0" bIns="0">
            <a:spAutoFit/>
          </a:bodyPr>
          <a:lstStyle/>
          <a:p>
            <a:pPr algn="l">
              <a:lnSpc>
                <a:spcPct val="115000"/>
              </a:lnSpc>
            </a:pPr>
            <a:r>
              <a:rPr sz="1500" b="1" i="0">
                <a:solidFill>
                  <a:srgbClr val="0B1F3A"/>
                </a:solidFill>
                <a:latin typeface="Calibri"/>
              </a:rPr>
              <a:t>Re-enable S3 Block</a:t>
            </a:r>
          </a:p>
          <a:p>
            <a:pPr algn="l">
              <a:lnSpc>
                <a:spcPct val="115000"/>
              </a:lnSpc>
            </a:pPr>
            <a:r>
              <a:rPr sz="1500" b="1" i="0">
                <a:solidFill>
                  <a:srgbClr val="0B1F3A"/>
                </a:solidFill>
                <a:latin typeface="Calibri"/>
              </a:rPr>
              <a:t>Public Access</a:t>
            </a:r>
          </a:p>
        </p:txBody>
      </p:sp>
      <p:sp>
        <p:nvSpPr>
          <p:cNvPr id="7" name="TextBox 6"/>
          <p:cNvSpPr txBox="1"/>
          <p:nvPr/>
        </p:nvSpPr>
        <p:spPr>
          <a:xfrm>
            <a:off x="914400" y="3200400"/>
            <a:ext cx="3017520" cy="640080"/>
          </a:xfrm>
          <a:prstGeom prst="rect">
            <a:avLst/>
          </a:prstGeom>
          <a:noFill/>
        </p:spPr>
        <p:txBody>
          <a:bodyPr wrap="square" lIns="0" rIns="0" tIns="0" bIns="0">
            <a:spAutoFit/>
          </a:bodyPr>
          <a:lstStyle/>
          <a:p>
            <a:pPr algn="l">
              <a:lnSpc>
                <a:spcPct val="120000"/>
              </a:lnSpc>
            </a:pPr>
            <a:r>
              <a:rPr sz="1150" b="0" i="0">
                <a:solidFill>
                  <a:srgbClr val="1A1A1A"/>
                </a:solidFill>
                <a:latin typeface="Calibri"/>
              </a:rPr>
              <a:t>Idempotent. Only restores</a:t>
            </a:r>
          </a:p>
          <a:p>
            <a:pPr algn="l">
              <a:lnSpc>
                <a:spcPct val="120000"/>
              </a:lnSpc>
            </a:pPr>
            <a:r>
              <a:rPr sz="1150" b="0" i="0">
                <a:solidFill>
                  <a:srgbClr val="1A1A1A"/>
                </a:solidFill>
                <a:latin typeface="Calibri"/>
              </a:rPr>
              <a:t>a security default.</a:t>
            </a:r>
          </a:p>
        </p:txBody>
      </p:sp>
      <p:sp>
        <p:nvSpPr>
          <p:cNvPr id="8" name="Rounded Rectangle 7"/>
          <p:cNvSpPr/>
          <p:nvPr/>
        </p:nvSpPr>
        <p:spPr>
          <a:xfrm>
            <a:off x="4389119" y="1554480"/>
            <a:ext cx="3520440" cy="237744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17719" y="1783080"/>
            <a:ext cx="365760" cy="36576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rPr>
              <a:t/>
            </a:r>
          </a:p>
        </p:txBody>
      </p:sp>
      <p:sp>
        <p:nvSpPr>
          <p:cNvPr id="10" name="TextBox 9"/>
          <p:cNvSpPr txBox="1"/>
          <p:nvPr/>
        </p:nvSpPr>
        <p:spPr>
          <a:xfrm>
            <a:off x="5120639" y="1783080"/>
            <a:ext cx="2651760" cy="320040"/>
          </a:xfrm>
          <a:prstGeom prst="rect">
            <a:avLst/>
          </a:prstGeom>
          <a:noFill/>
        </p:spPr>
        <p:txBody>
          <a:bodyPr wrap="square" lIns="0" rIns="0" tIns="0" bIns="0">
            <a:spAutoFit/>
          </a:bodyPr>
          <a:lstStyle/>
          <a:p>
            <a:pPr algn="l"/>
            <a:r>
              <a:rPr sz="1200" b="1" i="0">
                <a:solidFill>
                  <a:srgbClr val="02C39A"/>
                </a:solidFill>
                <a:latin typeface="Calibri"/>
              </a:rPr>
              <a:t>SAFE FIX #2</a:t>
            </a:r>
          </a:p>
        </p:txBody>
      </p:sp>
      <p:sp>
        <p:nvSpPr>
          <p:cNvPr id="11" name="TextBox 10"/>
          <p:cNvSpPr txBox="1"/>
          <p:nvPr/>
        </p:nvSpPr>
        <p:spPr>
          <a:xfrm>
            <a:off x="4663439" y="2240280"/>
            <a:ext cx="3017520" cy="822960"/>
          </a:xfrm>
          <a:prstGeom prst="rect">
            <a:avLst/>
          </a:prstGeom>
          <a:noFill/>
        </p:spPr>
        <p:txBody>
          <a:bodyPr wrap="square" lIns="0" rIns="0" tIns="0" bIns="0">
            <a:spAutoFit/>
          </a:bodyPr>
          <a:lstStyle/>
          <a:p>
            <a:pPr algn="l">
              <a:lnSpc>
                <a:spcPct val="115000"/>
              </a:lnSpc>
            </a:pPr>
            <a:r>
              <a:rPr sz="1500" b="1" i="0">
                <a:solidFill>
                  <a:srgbClr val="0B1F3A"/>
                </a:solidFill>
                <a:latin typeface="Calibri"/>
              </a:rPr>
              <a:t>Enable default</a:t>
            </a:r>
          </a:p>
          <a:p>
            <a:pPr algn="l">
              <a:lnSpc>
                <a:spcPct val="115000"/>
              </a:lnSpc>
            </a:pPr>
            <a:r>
              <a:rPr sz="1500" b="1" i="0">
                <a:solidFill>
                  <a:srgbClr val="0B1F3A"/>
                </a:solidFill>
                <a:latin typeface="Calibri"/>
              </a:rPr>
              <a:t>SSE-KMS encryption</a:t>
            </a:r>
          </a:p>
        </p:txBody>
      </p:sp>
      <p:sp>
        <p:nvSpPr>
          <p:cNvPr id="12" name="TextBox 11"/>
          <p:cNvSpPr txBox="1"/>
          <p:nvPr/>
        </p:nvSpPr>
        <p:spPr>
          <a:xfrm>
            <a:off x="4663439" y="3200400"/>
            <a:ext cx="3017520" cy="640080"/>
          </a:xfrm>
          <a:prstGeom prst="rect">
            <a:avLst/>
          </a:prstGeom>
          <a:noFill/>
        </p:spPr>
        <p:txBody>
          <a:bodyPr wrap="square" lIns="0" rIns="0" tIns="0" bIns="0">
            <a:spAutoFit/>
          </a:bodyPr>
          <a:lstStyle/>
          <a:p>
            <a:pPr algn="l">
              <a:lnSpc>
                <a:spcPct val="120000"/>
              </a:lnSpc>
            </a:pPr>
            <a:r>
              <a:rPr sz="1150" b="0" i="0">
                <a:solidFill>
                  <a:srgbClr val="1A1A1A"/>
                </a:solidFill>
                <a:latin typeface="Calibri"/>
              </a:rPr>
              <a:t>Never touches existing</a:t>
            </a:r>
          </a:p>
          <a:p>
            <a:pPr algn="l">
              <a:lnSpc>
                <a:spcPct val="120000"/>
              </a:lnSpc>
            </a:pPr>
            <a:r>
              <a:rPr sz="1150" b="0" i="0">
                <a:solidFill>
                  <a:srgbClr val="1A1A1A"/>
                </a:solidFill>
                <a:latin typeface="Calibri"/>
              </a:rPr>
              <a:t>objects. Idempotent.</a:t>
            </a:r>
          </a:p>
        </p:txBody>
      </p:sp>
      <p:sp>
        <p:nvSpPr>
          <p:cNvPr id="13" name="Rounded Rectangle 12"/>
          <p:cNvSpPr/>
          <p:nvPr/>
        </p:nvSpPr>
        <p:spPr>
          <a:xfrm>
            <a:off x="8138158" y="1554480"/>
            <a:ext cx="3520440" cy="237744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58" y="1783080"/>
            <a:ext cx="365760" cy="36576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rPr>
              <a:t/>
            </a:r>
          </a:p>
        </p:txBody>
      </p:sp>
      <p:sp>
        <p:nvSpPr>
          <p:cNvPr id="15" name="TextBox 14"/>
          <p:cNvSpPr txBox="1"/>
          <p:nvPr/>
        </p:nvSpPr>
        <p:spPr>
          <a:xfrm>
            <a:off x="8869678" y="1783080"/>
            <a:ext cx="2651760" cy="320040"/>
          </a:xfrm>
          <a:prstGeom prst="rect">
            <a:avLst/>
          </a:prstGeom>
          <a:noFill/>
        </p:spPr>
        <p:txBody>
          <a:bodyPr wrap="square" lIns="0" rIns="0" tIns="0" bIns="0">
            <a:spAutoFit/>
          </a:bodyPr>
          <a:lstStyle/>
          <a:p>
            <a:pPr algn="l"/>
            <a:r>
              <a:rPr sz="1200" b="1" i="0">
                <a:solidFill>
                  <a:srgbClr val="C0392B"/>
                </a:solidFill>
                <a:latin typeface="Calibri"/>
              </a:rPr>
              <a:t>RISKY FIX</a:t>
            </a:r>
          </a:p>
        </p:txBody>
      </p:sp>
      <p:sp>
        <p:nvSpPr>
          <p:cNvPr id="16" name="TextBox 15"/>
          <p:cNvSpPr txBox="1"/>
          <p:nvPr/>
        </p:nvSpPr>
        <p:spPr>
          <a:xfrm>
            <a:off x="8412478" y="2240280"/>
            <a:ext cx="3017520" cy="822960"/>
          </a:xfrm>
          <a:prstGeom prst="rect">
            <a:avLst/>
          </a:prstGeom>
          <a:noFill/>
        </p:spPr>
        <p:txBody>
          <a:bodyPr wrap="square" lIns="0" rIns="0" tIns="0" bIns="0">
            <a:spAutoFit/>
          </a:bodyPr>
          <a:lstStyle/>
          <a:p>
            <a:pPr algn="l">
              <a:lnSpc>
                <a:spcPct val="115000"/>
              </a:lnSpc>
            </a:pPr>
            <a:r>
              <a:rPr sz="1500" b="1" i="0">
                <a:solidFill>
                  <a:srgbClr val="0B1F3A"/>
                </a:solidFill>
                <a:latin typeface="Calibri"/>
              </a:rPr>
              <a:t>Detach Administrator-</a:t>
            </a:r>
          </a:p>
          <a:p>
            <a:pPr algn="l">
              <a:lnSpc>
                <a:spcPct val="115000"/>
              </a:lnSpc>
            </a:pPr>
            <a:r>
              <a:rPr sz="1500" b="1" i="0">
                <a:solidFill>
                  <a:srgbClr val="0B1F3A"/>
                </a:solidFill>
                <a:latin typeface="Calibri"/>
              </a:rPr>
              <a:t>Access from web role</a:t>
            </a:r>
          </a:p>
        </p:txBody>
      </p:sp>
      <p:sp>
        <p:nvSpPr>
          <p:cNvPr id="17" name="TextBox 16"/>
          <p:cNvSpPr txBox="1"/>
          <p:nvPr/>
        </p:nvSpPr>
        <p:spPr>
          <a:xfrm>
            <a:off x="8412478" y="3200400"/>
            <a:ext cx="3017520" cy="640080"/>
          </a:xfrm>
          <a:prstGeom prst="rect">
            <a:avLst/>
          </a:prstGeom>
          <a:noFill/>
        </p:spPr>
        <p:txBody>
          <a:bodyPr wrap="square" lIns="0" rIns="0" tIns="0" bIns="0">
            <a:spAutoFit/>
          </a:bodyPr>
          <a:lstStyle/>
          <a:p>
            <a:pPr algn="l">
              <a:lnSpc>
                <a:spcPct val="120000"/>
              </a:lnSpc>
            </a:pPr>
            <a:r>
              <a:rPr sz="1150" b="0" i="0">
                <a:solidFill>
                  <a:srgbClr val="1A1A1A"/>
                </a:solidFill>
                <a:latin typeface="Calibri"/>
              </a:rPr>
              <a:t>Could break a running</a:t>
            </a:r>
          </a:p>
          <a:p>
            <a:pPr algn="l">
              <a:lnSpc>
                <a:spcPct val="120000"/>
              </a:lnSpc>
            </a:pPr>
            <a:r>
              <a:rPr sz="1150" b="0" i="0">
                <a:solidFill>
                  <a:srgbClr val="1A1A1A"/>
                </a:solidFill>
                <a:latin typeface="Calibri"/>
              </a:rPr>
              <a:t>workload — gated (next slide).</a:t>
            </a:r>
          </a:p>
        </p:txBody>
      </p:sp>
      <p:sp>
        <p:nvSpPr>
          <p:cNvPr id="18" name="TextBox 17"/>
          <p:cNvSpPr txBox="1"/>
          <p:nvPr/>
        </p:nvSpPr>
        <p:spPr>
          <a:xfrm>
            <a:off x="640080" y="4206240"/>
            <a:ext cx="10881360" cy="365760"/>
          </a:xfrm>
          <a:prstGeom prst="rect">
            <a:avLst/>
          </a:prstGeom>
          <a:noFill/>
        </p:spPr>
        <p:txBody>
          <a:bodyPr wrap="square" lIns="0" rIns="0" tIns="0" bIns="0">
            <a:spAutoFit/>
          </a:bodyPr>
          <a:lstStyle/>
          <a:p>
            <a:pPr algn="l"/>
            <a:r>
              <a:rPr sz="1500" b="1" i="0">
                <a:solidFill>
                  <a:srgbClr val="0B1F3A"/>
                </a:solidFill>
                <a:latin typeface="Calibri"/>
              </a:rPr>
              <a:t>Guardrails on every Lambda:</a:t>
            </a:r>
          </a:p>
        </p:txBody>
      </p:sp>
      <p:sp>
        <p:nvSpPr>
          <p:cNvPr id="19" name="TextBox 18"/>
          <p:cNvSpPr txBox="1"/>
          <p:nvPr/>
        </p:nvSpPr>
        <p:spPr>
          <a:xfrm>
            <a:off x="822960" y="4617720"/>
            <a:ext cx="10332720" cy="1737360"/>
          </a:xfrm>
          <a:prstGeom prst="rect">
            <a:avLst/>
          </a:prstGeom>
          <a:noFill/>
        </p:spPr>
        <p:txBody>
          <a:bodyPr wrap="square" lIns="0" rIns="0">
            <a:spAutoFit/>
          </a:bodyPr>
          <a:lstStyle/>
          <a:p>
            <a:pPr algn="l">
              <a:spcAft>
                <a:spcPts val="800"/>
              </a:spcAft>
            </a:pPr>
            <a:r>
              <a:rPr sz="1300">
                <a:solidFill>
                  <a:srgbClr val="1A1A1A"/>
                </a:solidFill>
                <a:latin typeface="Calibri"/>
              </a:rPr>
              <a:t>•  DRY_RUN=true by default — every action logged before it's ever taken for real</a:t>
            </a:r>
          </a:p>
          <a:p>
            <a:pPr algn="l">
              <a:spcAft>
                <a:spcPts val="800"/>
              </a:spcAft>
            </a:pPr>
            <a:r>
              <a:rPr sz="1300">
                <a:solidFill>
                  <a:srgbClr val="1A1A1A"/>
                </a:solidFill>
                <a:latin typeface="Calibri"/>
              </a:rPr>
              <a:t>•  Explicit resource scoping (bucket/role name in the event payload) — never account-wide enumeration</a:t>
            </a:r>
          </a:p>
          <a:p>
            <a:pPr algn="l">
              <a:spcAft>
                <a:spcPts val="800"/>
              </a:spcAft>
            </a:pPr>
            <a:r>
              <a:rPr sz="1300">
                <a:solidFill>
                  <a:srgbClr val="1A1A1A"/>
                </a:solidFill>
                <a:latin typeface="Calibri"/>
              </a:rPr>
              <a:t>•  Least-privilege execution roles scoped to arn:...:ref3tier-* — never a bare "*"</a:t>
            </a:r>
          </a:p>
          <a:p>
            <a:pPr algn="l">
              <a:spcAft>
                <a:spcPts val="800"/>
              </a:spcAft>
            </a:pPr>
            <a:r>
              <a:rPr sz="1300">
                <a:solidFill>
                  <a:srgbClr val="1A1A1A"/>
                </a:solidFill>
                <a:latin typeface="Calibri"/>
              </a:rPr>
              <a:t>•  Driver tested against the real post-misconfig-v2.csv — correctly found 3 safe + 1 risky candidate</a:t>
            </a:r>
          </a:p>
        </p:txBody>
      </p:sp>
      <p:sp>
        <p:nvSpPr>
          <p:cNvPr id="20" name="TextBox 19"/>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6B7A8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2700" b="1" i="0">
                <a:solidFill>
                  <a:srgbClr val="FFFFFF"/>
                </a:solidFill>
                <a:latin typeface="Calibri"/>
              </a:rPr>
              <a:t>The Human-Approval Gate — Enforced in Code</a:t>
            </a:r>
          </a:p>
        </p:txBody>
      </p:sp>
      <p:sp>
        <p:nvSpPr>
          <p:cNvPr id="3" name="Oval 2"/>
          <p:cNvSpPr/>
          <p:nvPr/>
        </p:nvSpPr>
        <p:spPr>
          <a:xfrm>
            <a:off x="2057400" y="1691640"/>
            <a:ext cx="640080" cy="64008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0B1F3A"/>
                </a:solidFill>
              </a:rPr>
              <a:t>1</a:t>
            </a:r>
          </a:p>
        </p:txBody>
      </p:sp>
      <p:sp>
        <p:nvSpPr>
          <p:cNvPr id="4" name="TextBox 3"/>
          <p:cNvSpPr txBox="1"/>
          <p:nvPr/>
        </p:nvSpPr>
        <p:spPr>
          <a:xfrm>
            <a:off x="640080" y="2514600"/>
            <a:ext cx="3474720" cy="457200"/>
          </a:xfrm>
          <a:prstGeom prst="rect">
            <a:avLst/>
          </a:prstGeom>
          <a:noFill/>
        </p:spPr>
        <p:txBody>
          <a:bodyPr wrap="square" lIns="0" rIns="0" tIns="0" bIns="0">
            <a:spAutoFit/>
          </a:bodyPr>
          <a:lstStyle/>
          <a:p>
            <a:pPr algn="ctr"/>
            <a:r>
              <a:rPr sz="1700" b="1" i="0">
                <a:solidFill>
                  <a:srgbClr val="02C39A"/>
                </a:solidFill>
                <a:latin typeface="Calibri"/>
              </a:rPr>
              <a:t>PROPOSE</a:t>
            </a:r>
          </a:p>
        </p:txBody>
      </p:sp>
      <p:sp>
        <p:nvSpPr>
          <p:cNvPr id="5" name="TextBox 4"/>
          <p:cNvSpPr txBox="1"/>
          <p:nvPr/>
        </p:nvSpPr>
        <p:spPr>
          <a:xfrm>
            <a:off x="640080" y="3017520"/>
            <a:ext cx="3474720" cy="1371600"/>
          </a:xfrm>
          <a:prstGeom prst="rect">
            <a:avLst/>
          </a:prstGeom>
          <a:noFill/>
        </p:spPr>
        <p:txBody>
          <a:bodyPr wrap="square" lIns="0" rIns="0" tIns="0" bIns="0">
            <a:spAutoFit/>
          </a:bodyPr>
          <a:lstStyle/>
          <a:p>
            <a:pPr algn="ctr">
              <a:lnSpc>
                <a:spcPct val="125000"/>
              </a:lnSpc>
            </a:pPr>
            <a:r>
              <a:rPr sz="1250" b="0" i="0">
                <a:solidFill>
                  <a:srgbClr val="F4F6F8"/>
                </a:solidFill>
                <a:latin typeface="Calibri"/>
              </a:rPr>
              <a:t>Detects the finding, writes a</a:t>
            </a:r>
          </a:p>
          <a:p>
            <a:pPr algn="ctr">
              <a:lnSpc>
                <a:spcPct val="125000"/>
              </a:lnSpc>
            </a:pPr>
            <a:r>
              <a:rPr sz="1250" b="0" i="0">
                <a:solidFill>
                  <a:srgbClr val="F4F6F8"/>
                </a:solidFill>
                <a:latin typeface="Calibri"/>
              </a:rPr>
              <a:t>pending DynamoDB record,</a:t>
            </a:r>
          </a:p>
          <a:p>
            <a:pPr algn="ctr">
              <a:lnSpc>
                <a:spcPct val="125000"/>
              </a:lnSpc>
            </a:pPr>
            <a:r>
              <a:rPr sz="1250" b="0" i="0">
                <a:solidFill>
                  <a:srgbClr val="F4F6F8"/>
                </a:solidFill>
                <a:latin typeface="Calibri"/>
              </a:rPr>
              <a:t>notifies via SNS. Changes nothing.</a:t>
            </a:r>
          </a:p>
        </p:txBody>
      </p:sp>
      <p:sp>
        <p:nvSpPr>
          <p:cNvPr id="6" name="TextBox 5"/>
          <p:cNvSpPr txBox="1"/>
          <p:nvPr/>
        </p:nvSpPr>
        <p:spPr>
          <a:xfrm>
            <a:off x="3886200" y="1874519"/>
            <a:ext cx="457200" cy="457200"/>
          </a:xfrm>
          <a:prstGeom prst="rect">
            <a:avLst/>
          </a:prstGeom>
          <a:noFill/>
        </p:spPr>
        <p:txBody>
          <a:bodyPr wrap="square" lIns="0" rIns="0" tIns="0" bIns="0">
            <a:spAutoFit/>
          </a:bodyPr>
          <a:lstStyle/>
          <a:p>
            <a:pPr algn="ctr"/>
            <a:r>
              <a:rPr sz="2800" b="0" i="0">
                <a:solidFill>
                  <a:srgbClr val="02C39A"/>
                </a:solidFill>
                <a:latin typeface="Calibri"/>
              </a:rPr>
              <a:t>→</a:t>
            </a:r>
          </a:p>
        </p:txBody>
      </p:sp>
      <p:sp>
        <p:nvSpPr>
          <p:cNvPr id="7" name="Oval 6"/>
          <p:cNvSpPr/>
          <p:nvPr/>
        </p:nvSpPr>
        <p:spPr>
          <a:xfrm>
            <a:off x="5806439" y="1691640"/>
            <a:ext cx="640080" cy="64008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0B1F3A"/>
                </a:solidFill>
              </a:rPr>
              <a:t>2</a:t>
            </a:r>
          </a:p>
        </p:txBody>
      </p:sp>
      <p:sp>
        <p:nvSpPr>
          <p:cNvPr id="8" name="TextBox 7"/>
          <p:cNvSpPr txBox="1"/>
          <p:nvPr/>
        </p:nvSpPr>
        <p:spPr>
          <a:xfrm>
            <a:off x="4389119" y="2514600"/>
            <a:ext cx="3474720" cy="457200"/>
          </a:xfrm>
          <a:prstGeom prst="rect">
            <a:avLst/>
          </a:prstGeom>
          <a:noFill/>
        </p:spPr>
        <p:txBody>
          <a:bodyPr wrap="square" lIns="0" rIns="0" tIns="0" bIns="0">
            <a:spAutoFit/>
          </a:bodyPr>
          <a:lstStyle/>
          <a:p>
            <a:pPr algn="ctr"/>
            <a:r>
              <a:rPr sz="1700" b="1" i="0">
                <a:solidFill>
                  <a:srgbClr val="02C39A"/>
                </a:solidFill>
                <a:latin typeface="Calibri"/>
              </a:rPr>
              <a:t>APPROVE</a:t>
            </a:r>
          </a:p>
        </p:txBody>
      </p:sp>
      <p:sp>
        <p:nvSpPr>
          <p:cNvPr id="9" name="TextBox 8"/>
          <p:cNvSpPr txBox="1"/>
          <p:nvPr/>
        </p:nvSpPr>
        <p:spPr>
          <a:xfrm>
            <a:off x="4389119" y="3017520"/>
            <a:ext cx="3474720" cy="1371600"/>
          </a:xfrm>
          <a:prstGeom prst="rect">
            <a:avLst/>
          </a:prstGeom>
          <a:noFill/>
        </p:spPr>
        <p:txBody>
          <a:bodyPr wrap="square" lIns="0" rIns="0" tIns="0" bIns="0">
            <a:spAutoFit/>
          </a:bodyPr>
          <a:lstStyle/>
          <a:p>
            <a:pPr algn="ctr">
              <a:lnSpc>
                <a:spcPct val="125000"/>
              </a:lnSpc>
            </a:pPr>
            <a:r>
              <a:rPr sz="1250" b="0" i="0">
                <a:solidFill>
                  <a:srgbClr val="F4F6F8"/>
                </a:solidFill>
                <a:latin typeface="Calibri"/>
              </a:rPr>
              <a:t>A human flips status to</a:t>
            </a:r>
          </a:p>
          <a:p>
            <a:pPr algn="ctr">
              <a:lnSpc>
                <a:spcPct val="125000"/>
              </a:lnSpc>
            </a:pPr>
            <a:r>
              <a:rPr sz="1250" b="0" i="0">
                <a:solidFill>
                  <a:srgbClr val="F4F6F8"/>
                </a:solidFill>
                <a:latin typeface="Calibri"/>
              </a:rPr>
              <a:t>"approved" out-of-band.</a:t>
            </a:r>
          </a:p>
          <a:p>
            <a:pPr algn="ctr">
              <a:lnSpc>
                <a:spcPct val="125000"/>
              </a:lnSpc>
            </a:pPr>
            <a:r>
              <a:rPr sz="1250" b="0" i="0">
                <a:solidFill>
                  <a:srgbClr val="F4F6F8"/>
                </a:solidFill>
                <a:latin typeface="Calibri"/>
              </a:rPr>
              <a:t>No code path can do this itself.</a:t>
            </a:r>
          </a:p>
        </p:txBody>
      </p:sp>
      <p:sp>
        <p:nvSpPr>
          <p:cNvPr id="10" name="TextBox 9"/>
          <p:cNvSpPr txBox="1"/>
          <p:nvPr/>
        </p:nvSpPr>
        <p:spPr>
          <a:xfrm>
            <a:off x="7635239" y="1874519"/>
            <a:ext cx="457200" cy="457200"/>
          </a:xfrm>
          <a:prstGeom prst="rect">
            <a:avLst/>
          </a:prstGeom>
          <a:noFill/>
        </p:spPr>
        <p:txBody>
          <a:bodyPr wrap="square" lIns="0" rIns="0" tIns="0" bIns="0">
            <a:spAutoFit/>
          </a:bodyPr>
          <a:lstStyle/>
          <a:p>
            <a:pPr algn="ctr"/>
            <a:r>
              <a:rPr sz="2800" b="0" i="0">
                <a:solidFill>
                  <a:srgbClr val="02C39A"/>
                </a:solidFill>
                <a:latin typeface="Calibri"/>
              </a:rPr>
              <a:t>→</a:t>
            </a:r>
          </a:p>
        </p:txBody>
      </p:sp>
      <p:sp>
        <p:nvSpPr>
          <p:cNvPr id="11" name="Oval 10"/>
          <p:cNvSpPr/>
          <p:nvPr/>
        </p:nvSpPr>
        <p:spPr>
          <a:xfrm>
            <a:off x="9555478" y="1691640"/>
            <a:ext cx="640080" cy="64008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0B1F3A"/>
                </a:solidFill>
              </a:rPr>
              <a:t>3</a:t>
            </a:r>
          </a:p>
        </p:txBody>
      </p:sp>
      <p:sp>
        <p:nvSpPr>
          <p:cNvPr id="12" name="TextBox 11"/>
          <p:cNvSpPr txBox="1"/>
          <p:nvPr/>
        </p:nvSpPr>
        <p:spPr>
          <a:xfrm>
            <a:off x="8138158" y="2514600"/>
            <a:ext cx="3474720" cy="457200"/>
          </a:xfrm>
          <a:prstGeom prst="rect">
            <a:avLst/>
          </a:prstGeom>
          <a:noFill/>
        </p:spPr>
        <p:txBody>
          <a:bodyPr wrap="square" lIns="0" rIns="0" tIns="0" bIns="0">
            <a:spAutoFit/>
          </a:bodyPr>
          <a:lstStyle/>
          <a:p>
            <a:pPr algn="ctr"/>
            <a:r>
              <a:rPr sz="1700" b="1" i="0">
                <a:solidFill>
                  <a:srgbClr val="02C39A"/>
                </a:solidFill>
                <a:latin typeface="Calibri"/>
              </a:rPr>
              <a:t>EXECUTE</a:t>
            </a:r>
          </a:p>
        </p:txBody>
      </p:sp>
      <p:sp>
        <p:nvSpPr>
          <p:cNvPr id="13" name="TextBox 12"/>
          <p:cNvSpPr txBox="1"/>
          <p:nvPr/>
        </p:nvSpPr>
        <p:spPr>
          <a:xfrm>
            <a:off x="8138158" y="3017520"/>
            <a:ext cx="3474720" cy="1371600"/>
          </a:xfrm>
          <a:prstGeom prst="rect">
            <a:avLst/>
          </a:prstGeom>
          <a:noFill/>
        </p:spPr>
        <p:txBody>
          <a:bodyPr wrap="square" lIns="0" rIns="0" tIns="0" bIns="0">
            <a:spAutoFit/>
          </a:bodyPr>
          <a:lstStyle/>
          <a:p>
            <a:pPr algn="ctr">
              <a:lnSpc>
                <a:spcPct val="125000"/>
              </a:lnSpc>
            </a:pPr>
            <a:r>
              <a:rPr sz="1250" b="0" i="0">
                <a:solidFill>
                  <a:srgbClr val="F4F6F8"/>
                </a:solidFill>
                <a:latin typeface="Calibri"/>
              </a:rPr>
              <a:t>Hard-refuses (HTTP 403) unless</a:t>
            </a:r>
          </a:p>
          <a:p>
            <a:pPr algn="ctr">
              <a:lnSpc>
                <a:spcPct val="125000"/>
              </a:lnSpc>
            </a:pPr>
            <a:r>
              <a:rPr sz="1250" b="0" i="0">
                <a:solidFill>
                  <a:srgbClr val="F4F6F8"/>
                </a:solidFill>
                <a:latin typeface="Calibri"/>
              </a:rPr>
              <a:t>status==approved. Re-verifies live</a:t>
            </a:r>
          </a:p>
          <a:p>
            <a:pPr algn="ctr">
              <a:lnSpc>
                <a:spcPct val="125000"/>
              </a:lnSpc>
            </a:pPr>
            <a:r>
              <a:rPr sz="1250" b="0" i="0">
                <a:solidFill>
                  <a:srgbClr val="F4F6F8"/>
                </a:solidFill>
                <a:latin typeface="Calibri"/>
              </a:rPr>
              <a:t>state before acting. Marks executed.</a:t>
            </a:r>
          </a:p>
        </p:txBody>
      </p:sp>
      <p:sp>
        <p:nvSpPr>
          <p:cNvPr id="14" name="Rounded Rectangle 13"/>
          <p:cNvSpPr/>
          <p:nvPr/>
        </p:nvSpPr>
        <p:spPr>
          <a:xfrm>
            <a:off x="640080" y="4846320"/>
            <a:ext cx="10881360" cy="1463040"/>
          </a:xfrm>
          <a:prstGeom prst="roundRect">
            <a:avLst/>
          </a:prstGeom>
          <a:solidFill>
            <a:srgbClr val="16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029200"/>
            <a:ext cx="10332720" cy="1097280"/>
          </a:xfrm>
          <a:prstGeom prst="rect">
            <a:avLst/>
          </a:prstGeom>
          <a:noFill/>
        </p:spPr>
        <p:txBody>
          <a:bodyPr wrap="square" lIns="0" rIns="0" tIns="0" bIns="0">
            <a:spAutoFit/>
          </a:bodyPr>
          <a:lstStyle/>
          <a:p>
            <a:pPr algn="l">
              <a:lnSpc>
                <a:spcPct val="130000"/>
              </a:lnSpc>
            </a:pPr>
            <a:r>
              <a:rPr sz="1400" b="0" i="0">
                <a:solidFill>
                  <a:srgbClr val="FFFFFF"/>
                </a:solidFill>
                <a:latin typeface="Calibri"/>
              </a:rPr>
              <a:t>Separate execution roles for propose vs. execute — a compromised proposal Lambda physically cannot detach anything on its own. Least-privilege applied to the remediation tooling itself, not just the workload it protects.</a:t>
            </a:r>
          </a:p>
        </p:txBody>
      </p:sp>
      <p:sp>
        <p:nvSpPr>
          <p:cNvPr id="16" name="TextBox 15"/>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FFFF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lIns="0" rIns="0" tIns="0" bIns="0">
            <a:spAutoFit/>
          </a:bodyPr>
          <a:lstStyle/>
          <a:p>
            <a:pPr algn="l"/>
            <a:r>
              <a:rPr sz="2800" b="1" i="0">
                <a:solidFill>
                  <a:srgbClr val="0B1F3A"/>
                </a:solidFill>
                <a:latin typeface="Calibri"/>
              </a:rPr>
              <a:t>ISO/IEC 27001:2022 Annex A Crosswalk</a:t>
            </a:r>
          </a:p>
        </p:txBody>
      </p:sp>
      <p:graphicFrame>
        <p:nvGraphicFramePr>
          <p:cNvPr id="3" name="Table 2"/>
          <p:cNvGraphicFramePr>
            <a:graphicFrameLocks noGrp="1"/>
          </p:cNvGraphicFramePr>
          <p:nvPr/>
        </p:nvGraphicFramePr>
        <p:xfrm>
          <a:off x="640080" y="1371600"/>
          <a:ext cx="10881360" cy="4297680"/>
        </p:xfrm>
        <a:graphic>
          <a:graphicData uri="http://schemas.openxmlformats.org/drawingml/2006/table">
            <a:tbl>
              <a:tblPr firstRow="1" bandRow="1">
                <a:tableStyleId>{5C22544A-7EE6-4342-B048-85BDC9FD1C3A}</a:tableStyleId>
              </a:tblPr>
              <a:tblGrid>
                <a:gridCol w="2720340"/>
                <a:gridCol w="2720340"/>
                <a:gridCol w="2720340"/>
                <a:gridCol w="2720340"/>
              </a:tblGrid>
              <a:tr h="537210">
                <a:tc>
                  <a:txBody>
                    <a:bodyPr/>
                    <a:lstStyle/>
                    <a:p>
                      <a:pPr algn="l"/>
                      <a:r>
                        <a:rPr b="1" sz="1200">
                          <a:solidFill>
                            <a:srgbClr val="FFFFFF"/>
                          </a:solidFill>
                        </a:rPr>
                        <a:t>#</a:t>
                      </a:r>
                    </a:p>
                  </a:txBody>
                  <a:tcPr>
                    <a:solidFill>
                      <a:srgbClr val="0B1F3A"/>
                    </a:solidFill>
                  </a:tcPr>
                </a:tc>
                <a:tc>
                  <a:txBody>
                    <a:bodyPr/>
                    <a:lstStyle/>
                    <a:p>
                      <a:pPr algn="l"/>
                      <a:r>
                        <a:rPr b="1" sz="1200">
                          <a:solidFill>
                            <a:srgbClr val="FFFFFF"/>
                          </a:solidFill>
                        </a:rPr>
                        <a:t>Misconfig</a:t>
                      </a:r>
                    </a:p>
                  </a:txBody>
                  <a:tcPr>
                    <a:solidFill>
                      <a:srgbClr val="0B1F3A"/>
                    </a:solidFill>
                  </a:tcPr>
                </a:tc>
                <a:tc>
                  <a:txBody>
                    <a:bodyPr/>
                    <a:lstStyle/>
                    <a:p>
                      <a:pPr algn="l"/>
                      <a:r>
                        <a:rPr b="1" sz="1200">
                          <a:solidFill>
                            <a:srgbClr val="FFFFFF"/>
                          </a:solidFill>
                        </a:rPr>
                        <a:t>Annex A Control(s)</a:t>
                      </a:r>
                    </a:p>
                  </a:txBody>
                  <a:tcPr>
                    <a:solidFill>
                      <a:srgbClr val="0B1F3A"/>
                    </a:solidFill>
                  </a:tcPr>
                </a:tc>
                <a:tc>
                  <a:txBody>
                    <a:bodyPr/>
                    <a:lstStyle/>
                    <a:p>
                      <a:pPr algn="l"/>
                      <a:r>
                        <a:rPr b="1" sz="1200">
                          <a:solidFill>
                            <a:srgbClr val="FFFFFF"/>
                          </a:solidFill>
                        </a:rPr>
                        <a:t>Source</a:t>
                      </a:r>
                    </a:p>
                  </a:txBody>
                  <a:tcPr>
                    <a:solidFill>
                      <a:srgbClr val="0B1F3A"/>
                    </a:solidFill>
                  </a:tcPr>
                </a:tc>
              </a:tr>
              <a:tr h="537210">
                <a:tc>
                  <a:txBody>
                    <a:bodyPr/>
                    <a:lstStyle/>
                    <a:p>
                      <a:r>
                        <a:rPr sz="1200">
                          <a:solidFill>
                            <a:srgbClr val="1A1A1A"/>
                          </a:solidFill>
                        </a:rPr>
                        <a:t>1</a:t>
                      </a:r>
                    </a:p>
                  </a:txBody>
                  <a:tcPr>
                    <a:solidFill>
                      <a:srgbClr val="F4F6F8"/>
                    </a:solidFill>
                  </a:tcPr>
                </a:tc>
                <a:tc>
                  <a:txBody>
                    <a:bodyPr/>
                    <a:lstStyle/>
                    <a:p>
                      <a:r>
                        <a:rPr sz="1200">
                          <a:solidFill>
                            <a:srgbClr val="1A1A1A"/>
                          </a:solidFill>
                        </a:rPr>
                        <a:t>S3 bucket public</a:t>
                      </a:r>
                    </a:p>
                  </a:txBody>
                  <a:tcPr>
                    <a:solidFill>
                      <a:srgbClr val="F4F6F8"/>
                    </a:solidFill>
                  </a:tcPr>
                </a:tc>
                <a:tc>
                  <a:txBody>
                    <a:bodyPr/>
                    <a:lstStyle/>
                    <a:p>
                      <a:r>
                        <a:rPr sz="1200">
                          <a:solidFill>
                            <a:srgbClr val="1A1A1A"/>
                          </a:solidFill>
                        </a:rPr>
                        <a:t>A.8.1 User Endpoint Devices</a:t>
                      </a:r>
                    </a:p>
                  </a:txBody>
                  <a:tcPr>
                    <a:solidFill>
                      <a:srgbClr val="F4F6F8"/>
                    </a:solidFill>
                  </a:tcPr>
                </a:tc>
                <a:tc>
                  <a:txBody>
                    <a:bodyPr/>
                    <a:lstStyle/>
                    <a:p>
                      <a:r>
                        <a:rPr sz="1200">
                          <a:solidFill>
                            <a:srgbClr val="1A1A1A"/>
                          </a:solidFill>
                        </a:rPr>
                        <a:t>Prowler-mapped</a:t>
                      </a:r>
                    </a:p>
                  </a:txBody>
                  <a:tcPr>
                    <a:solidFill>
                      <a:srgbClr val="F4F6F8"/>
                    </a:solidFill>
                  </a:tcPr>
                </a:tc>
              </a:tr>
              <a:tr h="537210">
                <a:tc>
                  <a:txBody>
                    <a:bodyPr/>
                    <a:lstStyle/>
                    <a:p>
                      <a:r>
                        <a:rPr sz="1200">
                          <a:solidFill>
                            <a:srgbClr val="1A1A1A"/>
                          </a:solidFill>
                        </a:rPr>
                        <a:t>2</a:t>
                      </a:r>
                    </a:p>
                  </a:txBody>
                  <a:tcPr>
                    <a:solidFill>
                      <a:srgbClr val="FFFFFF"/>
                    </a:solidFill>
                  </a:tcPr>
                </a:tc>
                <a:tc>
                  <a:txBody>
                    <a:bodyPr/>
                    <a:lstStyle/>
                    <a:p>
                      <a:r>
                        <a:rPr sz="1200">
                          <a:solidFill>
                            <a:srgbClr val="1A1A1A"/>
                          </a:solidFill>
                        </a:rPr>
                        <a:t>S3 encryption removed</a:t>
                      </a:r>
                    </a:p>
                  </a:txBody>
                  <a:tcPr>
                    <a:solidFill>
                      <a:srgbClr val="FFFFFF"/>
                    </a:solidFill>
                  </a:tcPr>
                </a:tc>
                <a:tc>
                  <a:txBody>
                    <a:bodyPr/>
                    <a:lstStyle/>
                    <a:p>
                      <a:r>
                        <a:rPr sz="1200">
                          <a:solidFill>
                            <a:srgbClr val="1A1A1A"/>
                          </a:solidFill>
                        </a:rPr>
                        <a:t>A.8.11, A.8.24 (Cryptography)</a:t>
                      </a:r>
                    </a:p>
                  </a:txBody>
                  <a:tcPr>
                    <a:solidFill>
                      <a:srgbClr val="FFFFFF"/>
                    </a:solidFill>
                  </a:tcPr>
                </a:tc>
                <a:tc>
                  <a:txBody>
                    <a:bodyPr/>
                    <a:lstStyle/>
                    <a:p>
                      <a:r>
                        <a:rPr sz="1200">
                          <a:solidFill>
                            <a:srgbClr val="1A1A1A"/>
                          </a:solidFill>
                        </a:rPr>
                        <a:t>Prowler-mapped</a:t>
                      </a:r>
                    </a:p>
                  </a:txBody>
                  <a:tcPr>
                    <a:solidFill>
                      <a:srgbClr val="FFFFFF"/>
                    </a:solidFill>
                  </a:tcPr>
                </a:tc>
              </a:tr>
              <a:tr h="537210">
                <a:tc>
                  <a:txBody>
                    <a:bodyPr/>
                    <a:lstStyle/>
                    <a:p>
                      <a:r>
                        <a:rPr sz="1200">
                          <a:solidFill>
                            <a:srgbClr val="1A1A1A"/>
                          </a:solidFill>
                        </a:rPr>
                        <a:t>4</a:t>
                      </a:r>
                    </a:p>
                  </a:txBody>
                  <a:tcPr>
                    <a:solidFill>
                      <a:srgbClr val="F4F6F8"/>
                    </a:solidFill>
                  </a:tcPr>
                </a:tc>
                <a:tc>
                  <a:txBody>
                    <a:bodyPr/>
                    <a:lstStyle/>
                    <a:p>
                      <a:r>
                        <a:rPr sz="1200">
                          <a:solidFill>
                            <a:srgbClr val="1A1A1A"/>
                          </a:solidFill>
                        </a:rPr>
                        <a:t>Data subnet public IP</a:t>
                      </a:r>
                    </a:p>
                  </a:txBody>
                  <a:tcPr>
                    <a:solidFill>
                      <a:srgbClr val="F4F6F8"/>
                    </a:solidFill>
                  </a:tcPr>
                </a:tc>
                <a:tc>
                  <a:txBody>
                    <a:bodyPr/>
                    <a:lstStyle/>
                    <a:p>
                      <a:r>
                        <a:rPr sz="1200">
                          <a:solidFill>
                            <a:srgbClr val="1A1A1A"/>
                          </a:solidFill>
                        </a:rPr>
                        <a:t>A.8.20, A.8.21, A.8.22 (Network)</a:t>
                      </a:r>
                    </a:p>
                  </a:txBody>
                  <a:tcPr>
                    <a:solidFill>
                      <a:srgbClr val="F4F6F8"/>
                    </a:solidFill>
                  </a:tcPr>
                </a:tc>
                <a:tc>
                  <a:txBody>
                    <a:bodyPr/>
                    <a:lstStyle/>
                    <a:p>
                      <a:r>
                        <a:rPr sz="1200">
                          <a:solidFill>
                            <a:srgbClr val="1A1A1A"/>
                          </a:solidFill>
                        </a:rPr>
                        <a:t>Prowler-mapped</a:t>
                      </a:r>
                    </a:p>
                  </a:txBody>
                  <a:tcPr>
                    <a:solidFill>
                      <a:srgbClr val="F4F6F8"/>
                    </a:solidFill>
                  </a:tcPr>
                </a:tc>
              </a:tr>
              <a:tr h="537210">
                <a:tc>
                  <a:txBody>
                    <a:bodyPr/>
                    <a:lstStyle/>
                    <a:p>
                      <a:r>
                        <a:rPr sz="1200">
                          <a:solidFill>
                            <a:srgbClr val="1A1A1A"/>
                          </a:solidFill>
                        </a:rPr>
                        <a:t>5</a:t>
                      </a:r>
                    </a:p>
                  </a:txBody>
                  <a:tcPr>
                    <a:solidFill>
                      <a:srgbClr val="FFFFFF"/>
                    </a:solidFill>
                  </a:tcPr>
                </a:tc>
                <a:tc>
                  <a:txBody>
                    <a:bodyPr/>
                    <a:lstStyle/>
                    <a:p>
                      <a:r>
                        <a:rPr sz="1200">
                          <a:solidFill>
                            <a:srgbClr val="1A1A1A"/>
                          </a:solidFill>
                        </a:rPr>
                        <a:t>RDS storage not encrypted</a:t>
                      </a:r>
                    </a:p>
                  </a:txBody>
                  <a:tcPr>
                    <a:solidFill>
                      <a:srgbClr val="FFFFFF"/>
                    </a:solidFill>
                  </a:tcPr>
                </a:tc>
                <a:tc>
                  <a:txBody>
                    <a:bodyPr/>
                    <a:lstStyle/>
                    <a:p>
                      <a:r>
                        <a:rPr sz="1200">
                          <a:solidFill>
                            <a:srgbClr val="1A1A1A"/>
                          </a:solidFill>
                        </a:rPr>
                        <a:t>A.8.11, A.8.24 (Cryptography)</a:t>
                      </a:r>
                    </a:p>
                  </a:txBody>
                  <a:tcPr>
                    <a:solidFill>
                      <a:srgbClr val="FFFFFF"/>
                    </a:solidFill>
                  </a:tcPr>
                </a:tc>
                <a:tc>
                  <a:txBody>
                    <a:bodyPr/>
                    <a:lstStyle/>
                    <a:p>
                      <a:r>
                        <a:rPr sz="1200">
                          <a:solidFill>
                            <a:srgbClr val="1A1A1A"/>
                          </a:solidFill>
                        </a:rPr>
                        <a:t>Prowler-mapped</a:t>
                      </a:r>
                    </a:p>
                  </a:txBody>
                  <a:tcPr>
                    <a:solidFill>
                      <a:srgbClr val="FFFFFF"/>
                    </a:solidFill>
                  </a:tcPr>
                </a:tc>
              </a:tr>
              <a:tr h="537210">
                <a:tc>
                  <a:txBody>
                    <a:bodyPr/>
                    <a:lstStyle/>
                    <a:p>
                      <a:r>
                        <a:rPr sz="1200">
                          <a:solidFill>
                            <a:srgbClr val="1A1A1A"/>
                          </a:solidFill>
                        </a:rPr>
                        <a:t>6</a:t>
                      </a:r>
                    </a:p>
                  </a:txBody>
                  <a:tcPr>
                    <a:solidFill>
                      <a:srgbClr val="F4F6F8"/>
                    </a:solidFill>
                  </a:tcPr>
                </a:tc>
                <a:tc>
                  <a:txBody>
                    <a:bodyPr/>
                    <a:lstStyle/>
                    <a:p>
                      <a:r>
                        <a:rPr sz="1200">
                          <a:solidFill>
                            <a:srgbClr val="1A1A1A"/>
                          </a:solidFill>
                        </a:rPr>
                        <a:t>IAM AdministratorAccess</a:t>
                      </a:r>
                    </a:p>
                  </a:txBody>
                  <a:tcPr>
                    <a:solidFill>
                      <a:srgbClr val="F4F6F8"/>
                    </a:solidFill>
                  </a:tcPr>
                </a:tc>
                <a:tc>
                  <a:txBody>
                    <a:bodyPr/>
                    <a:lstStyle/>
                    <a:p>
                      <a:r>
                        <a:rPr sz="1200">
                          <a:solidFill>
                            <a:srgbClr val="1A1A1A"/>
                          </a:solidFill>
                        </a:rPr>
                        <a:t>A.8.2 Privileged Access Rights</a:t>
                      </a:r>
                    </a:p>
                  </a:txBody>
                  <a:tcPr>
                    <a:solidFill>
                      <a:srgbClr val="F4F6F8"/>
                    </a:solidFill>
                  </a:tcPr>
                </a:tc>
                <a:tc>
                  <a:txBody>
                    <a:bodyPr/>
                    <a:lstStyle/>
                    <a:p>
                      <a:r>
                        <a:rPr sz="1200">
                          <a:solidFill>
                            <a:srgbClr val="1A1A1A"/>
                          </a:solidFill>
                        </a:rPr>
                        <a:t>Analyst-supplied</a:t>
                      </a:r>
                    </a:p>
                  </a:txBody>
                  <a:tcPr>
                    <a:solidFill>
                      <a:srgbClr val="F4F6F8"/>
                    </a:solidFill>
                  </a:tcPr>
                </a:tc>
              </a:tr>
              <a:tr h="537210">
                <a:tc>
                  <a:txBody>
                    <a:bodyPr/>
                    <a:lstStyle/>
                    <a:p>
                      <a:r>
                        <a:rPr sz="1200">
                          <a:solidFill>
                            <a:srgbClr val="1A1A1A"/>
                          </a:solidFill>
                        </a:rPr>
                        <a:t>7</a:t>
                      </a:r>
                    </a:p>
                  </a:txBody>
                  <a:tcPr>
                    <a:solidFill>
                      <a:srgbClr val="FFFFFF"/>
                    </a:solidFill>
                  </a:tcPr>
                </a:tc>
                <a:tc>
                  <a:txBody>
                    <a:bodyPr/>
                    <a:lstStyle/>
                    <a:p>
                      <a:r>
                        <a:rPr sz="1200">
                          <a:solidFill>
                            <a:srgbClr val="1A1A1A"/>
                          </a:solidFill>
                        </a:rPr>
                        <a:t>IAM cross-account trust</a:t>
                      </a:r>
                    </a:p>
                  </a:txBody>
                  <a:tcPr>
                    <a:solidFill>
                      <a:srgbClr val="FFFFFF"/>
                    </a:solidFill>
                  </a:tcPr>
                </a:tc>
                <a:tc>
                  <a:txBody>
                    <a:bodyPr/>
                    <a:lstStyle/>
                    <a:p>
                      <a:r>
                        <a:rPr sz="1200">
                          <a:solidFill>
                            <a:srgbClr val="1A1A1A"/>
                          </a:solidFill>
                        </a:rPr>
                        <a:t>A.5.15 Access Control</a:t>
                      </a:r>
                    </a:p>
                  </a:txBody>
                  <a:tcPr>
                    <a:solidFill>
                      <a:srgbClr val="FFFFFF"/>
                    </a:solidFill>
                  </a:tcPr>
                </a:tc>
                <a:tc>
                  <a:txBody>
                    <a:bodyPr/>
                    <a:lstStyle/>
                    <a:p>
                      <a:r>
                        <a:rPr sz="1200">
                          <a:solidFill>
                            <a:srgbClr val="1A1A1A"/>
                          </a:solidFill>
                        </a:rPr>
                        <a:t>Analyst-supplied</a:t>
                      </a:r>
                    </a:p>
                  </a:txBody>
                  <a:tcPr>
                    <a:solidFill>
                      <a:srgbClr val="FFFFFF"/>
                    </a:solidFill>
                  </a:tcPr>
                </a:tc>
              </a:tr>
              <a:tr h="537210">
                <a:tc>
                  <a:txBody>
                    <a:bodyPr/>
                    <a:lstStyle/>
                    <a:p>
                      <a:r>
                        <a:rPr sz="1200">
                          <a:solidFill>
                            <a:srgbClr val="1A1A1A"/>
                          </a:solidFill>
                        </a:rPr>
                        <a:t>8</a:t>
                      </a:r>
                    </a:p>
                  </a:txBody>
                  <a:tcPr>
                    <a:solidFill>
                      <a:srgbClr val="F4F6F8"/>
                    </a:solidFill>
                  </a:tcPr>
                </a:tc>
                <a:tc>
                  <a:txBody>
                    <a:bodyPr/>
                    <a:lstStyle/>
                    <a:p>
                      <a:r>
                        <a:rPr sz="1200">
                          <a:solidFill>
                            <a:srgbClr val="1A1A1A"/>
                          </a:solidFill>
                        </a:rPr>
                        <a:t>CloudTrail never enabled</a:t>
                      </a:r>
                    </a:p>
                  </a:txBody>
                  <a:tcPr>
                    <a:solidFill>
                      <a:srgbClr val="F4F6F8"/>
                    </a:solidFill>
                  </a:tcPr>
                </a:tc>
                <a:tc>
                  <a:txBody>
                    <a:bodyPr/>
                    <a:lstStyle/>
                    <a:p>
                      <a:r>
                        <a:rPr sz="1200">
                          <a:solidFill>
                            <a:srgbClr val="1A1A1A"/>
                          </a:solidFill>
                        </a:rPr>
                        <a:t>A.8.15, A.8.16 (Logging/Monitoring)</a:t>
                      </a:r>
                    </a:p>
                  </a:txBody>
                  <a:tcPr>
                    <a:solidFill>
                      <a:srgbClr val="F4F6F8"/>
                    </a:solidFill>
                  </a:tcPr>
                </a:tc>
                <a:tc>
                  <a:txBody>
                    <a:bodyPr/>
                    <a:lstStyle/>
                    <a:p>
                      <a:r>
                        <a:rPr sz="1200">
                          <a:solidFill>
                            <a:srgbClr val="1A1A1A"/>
                          </a:solidFill>
                        </a:rPr>
                        <a:t>Prowler-mapped</a:t>
                      </a:r>
                    </a:p>
                  </a:txBody>
                  <a:tcPr>
                    <a:solidFill>
                      <a:srgbClr val="F4F6F8"/>
                    </a:solidFill>
                  </a:tcPr>
                </a:tc>
              </a:tr>
            </a:tbl>
          </a:graphicData>
        </a:graphic>
      </p:graphicFrame>
      <p:sp>
        <p:nvSpPr>
          <p:cNvPr id="4" name="TextBox 3"/>
          <p:cNvSpPr txBox="1"/>
          <p:nvPr/>
        </p:nvSpPr>
        <p:spPr>
          <a:xfrm>
            <a:off x="640080" y="5852160"/>
            <a:ext cx="10881360" cy="457200"/>
          </a:xfrm>
          <a:prstGeom prst="rect">
            <a:avLst/>
          </a:prstGeom>
          <a:noFill/>
        </p:spPr>
        <p:txBody>
          <a:bodyPr wrap="square" lIns="0" rIns="0" tIns="0" bIns="0">
            <a:spAutoFit/>
          </a:bodyPr>
          <a:lstStyle/>
          <a:p>
            <a:pPr algn="l"/>
            <a:r>
              <a:rPr sz="1200" b="0" i="1">
                <a:solidFill>
                  <a:srgbClr val="6B7A8F"/>
                </a:solidFill>
                <a:latin typeface="Calibri"/>
              </a:rPr>
              <a:t>2 of 8 controls have no built-in Prowler mapping — disclosed rather than hidden, and sourced directly from the standard's own text.</a:t>
            </a:r>
          </a:p>
        </p:txBody>
      </p:sp>
      <p:sp>
        <p:nvSpPr>
          <p:cNvPr id="5" name="TextBox 4"/>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6B7A8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548640"/>
            <a:ext cx="10515600" cy="731520"/>
          </a:xfrm>
          <a:prstGeom prst="rect">
            <a:avLst/>
          </a:prstGeom>
          <a:noFill/>
        </p:spPr>
        <p:txBody>
          <a:bodyPr wrap="square" lIns="0" rIns="0" tIns="0" bIns="0">
            <a:spAutoFit/>
          </a:bodyPr>
          <a:lstStyle/>
          <a:p>
            <a:pPr algn="l"/>
            <a:r>
              <a:rPr sz="3000" b="1" i="0">
                <a:solidFill>
                  <a:srgbClr val="FFFFFF"/>
                </a:solidFill>
                <a:latin typeface="Calibri"/>
              </a:rPr>
              <a:t>Results and Lessons Learned</a:t>
            </a:r>
          </a:p>
        </p:txBody>
      </p:sp>
      <p:sp>
        <p:nvSpPr>
          <p:cNvPr id="3" name="TextBox 2"/>
          <p:cNvSpPr txBox="1"/>
          <p:nvPr/>
        </p:nvSpPr>
        <p:spPr>
          <a:xfrm>
            <a:off x="640080" y="1554480"/>
            <a:ext cx="2651760" cy="914400"/>
          </a:xfrm>
          <a:prstGeom prst="rect">
            <a:avLst/>
          </a:prstGeom>
          <a:noFill/>
        </p:spPr>
        <p:txBody>
          <a:bodyPr wrap="square" lIns="0" rIns="0" tIns="0" bIns="0">
            <a:spAutoFit/>
          </a:bodyPr>
          <a:lstStyle/>
          <a:p>
            <a:pPr algn="ctr"/>
            <a:r>
              <a:rPr sz="4400" b="1" i="0">
                <a:solidFill>
                  <a:srgbClr val="02C39A"/>
                </a:solidFill>
                <a:latin typeface="Calibri"/>
              </a:rPr>
              <a:t>6/7</a:t>
            </a:r>
          </a:p>
        </p:txBody>
      </p:sp>
      <p:sp>
        <p:nvSpPr>
          <p:cNvPr id="4" name="TextBox 3"/>
          <p:cNvSpPr txBox="1"/>
          <p:nvPr/>
        </p:nvSpPr>
        <p:spPr>
          <a:xfrm>
            <a:off x="640080" y="2514600"/>
            <a:ext cx="2651760" cy="822960"/>
          </a:xfrm>
          <a:prstGeom prst="rect">
            <a:avLst/>
          </a:prstGeom>
          <a:noFill/>
        </p:spPr>
        <p:txBody>
          <a:bodyPr wrap="square" lIns="0" rIns="0" tIns="0" bIns="0">
            <a:spAutoFit/>
          </a:bodyPr>
          <a:lstStyle/>
          <a:p>
            <a:pPr algn="ctr">
              <a:lnSpc>
                <a:spcPct val="120000"/>
              </a:lnSpc>
            </a:pPr>
            <a:r>
              <a:rPr sz="1250" b="0" i="0">
                <a:solidFill>
                  <a:srgbClr val="F4F6F8"/>
                </a:solidFill>
                <a:latin typeface="Calibri"/>
              </a:rPr>
              <a:t>code-level misconfigs</a:t>
            </a:r>
          </a:p>
          <a:p>
            <a:pPr algn="ctr">
              <a:lnSpc>
                <a:spcPct val="120000"/>
              </a:lnSpc>
            </a:pPr>
            <a:r>
              <a:rPr sz="1250" b="0" i="0">
                <a:solidFill>
                  <a:srgbClr val="F4F6F8"/>
                </a:solidFill>
                <a:latin typeface="Calibri"/>
              </a:rPr>
              <a:t>cleanly detected</a:t>
            </a:r>
          </a:p>
        </p:txBody>
      </p:sp>
      <p:sp>
        <p:nvSpPr>
          <p:cNvPr id="5" name="TextBox 4"/>
          <p:cNvSpPr txBox="1"/>
          <p:nvPr/>
        </p:nvSpPr>
        <p:spPr>
          <a:xfrm>
            <a:off x="3383280" y="1554480"/>
            <a:ext cx="2651760" cy="914400"/>
          </a:xfrm>
          <a:prstGeom prst="rect">
            <a:avLst/>
          </a:prstGeom>
          <a:noFill/>
        </p:spPr>
        <p:txBody>
          <a:bodyPr wrap="square" lIns="0" rIns="0" tIns="0" bIns="0">
            <a:spAutoFit/>
          </a:bodyPr>
          <a:lstStyle/>
          <a:p>
            <a:pPr algn="ctr"/>
            <a:r>
              <a:rPr sz="4400" b="1" i="0">
                <a:solidFill>
                  <a:srgbClr val="02C39A"/>
                </a:solidFill>
                <a:latin typeface="Calibri"/>
              </a:rPr>
              <a:t>126</a:t>
            </a:r>
          </a:p>
        </p:txBody>
      </p:sp>
      <p:sp>
        <p:nvSpPr>
          <p:cNvPr id="6" name="TextBox 5"/>
          <p:cNvSpPr txBox="1"/>
          <p:nvPr/>
        </p:nvSpPr>
        <p:spPr>
          <a:xfrm>
            <a:off x="3383280" y="2514600"/>
            <a:ext cx="2651760" cy="822960"/>
          </a:xfrm>
          <a:prstGeom prst="rect">
            <a:avLst/>
          </a:prstGeom>
          <a:noFill/>
        </p:spPr>
        <p:txBody>
          <a:bodyPr wrap="square" lIns="0" rIns="0" tIns="0" bIns="0">
            <a:spAutoFit/>
          </a:bodyPr>
          <a:lstStyle/>
          <a:p>
            <a:pPr algn="ctr">
              <a:lnSpc>
                <a:spcPct val="120000"/>
              </a:lnSpc>
            </a:pPr>
            <a:r>
              <a:rPr sz="1250" b="0" i="0">
                <a:solidFill>
                  <a:srgbClr val="F4F6F8"/>
                </a:solidFill>
                <a:latin typeface="Calibri"/>
              </a:rPr>
              <a:t>FAIL findings in the</a:t>
            </a:r>
          </a:p>
          <a:p>
            <a:pPr algn="ctr">
              <a:lnSpc>
                <a:spcPct val="120000"/>
              </a:lnSpc>
            </a:pPr>
            <a:r>
              <a:rPr sz="1250" b="0" i="0">
                <a:solidFill>
                  <a:srgbClr val="F4F6F8"/>
                </a:solidFill>
                <a:latin typeface="Calibri"/>
              </a:rPr>
              <a:t>final consolidated DB</a:t>
            </a:r>
          </a:p>
        </p:txBody>
      </p:sp>
      <p:sp>
        <p:nvSpPr>
          <p:cNvPr id="7" name="TextBox 6"/>
          <p:cNvSpPr txBox="1"/>
          <p:nvPr/>
        </p:nvSpPr>
        <p:spPr>
          <a:xfrm>
            <a:off x="6126480" y="1554480"/>
            <a:ext cx="2651760" cy="914400"/>
          </a:xfrm>
          <a:prstGeom prst="rect">
            <a:avLst/>
          </a:prstGeom>
          <a:noFill/>
        </p:spPr>
        <p:txBody>
          <a:bodyPr wrap="square" lIns="0" rIns="0" tIns="0" bIns="0">
            <a:spAutoFit/>
          </a:bodyPr>
          <a:lstStyle/>
          <a:p>
            <a:pPr algn="ctr"/>
            <a:r>
              <a:rPr sz="4400" b="1" i="0">
                <a:solidFill>
                  <a:srgbClr val="02C39A"/>
                </a:solidFill>
                <a:latin typeface="Calibri"/>
              </a:rPr>
              <a:t>2+1</a:t>
            </a:r>
          </a:p>
        </p:txBody>
      </p:sp>
      <p:sp>
        <p:nvSpPr>
          <p:cNvPr id="8" name="TextBox 7"/>
          <p:cNvSpPr txBox="1"/>
          <p:nvPr/>
        </p:nvSpPr>
        <p:spPr>
          <a:xfrm>
            <a:off x="6126480" y="2514600"/>
            <a:ext cx="2651760" cy="822960"/>
          </a:xfrm>
          <a:prstGeom prst="rect">
            <a:avLst/>
          </a:prstGeom>
          <a:noFill/>
        </p:spPr>
        <p:txBody>
          <a:bodyPr wrap="square" lIns="0" rIns="0" tIns="0" bIns="0">
            <a:spAutoFit/>
          </a:bodyPr>
          <a:lstStyle/>
          <a:p>
            <a:pPr algn="ctr">
              <a:lnSpc>
                <a:spcPct val="120000"/>
              </a:lnSpc>
            </a:pPr>
            <a:r>
              <a:rPr sz="1250" b="0" i="0">
                <a:solidFill>
                  <a:srgbClr val="F4F6F8"/>
                </a:solidFill>
                <a:latin typeface="Calibri"/>
              </a:rPr>
              <a:t>auto-remediations:</a:t>
            </a:r>
          </a:p>
          <a:p>
            <a:pPr algn="ctr">
              <a:lnSpc>
                <a:spcPct val="120000"/>
              </a:lnSpc>
            </a:pPr>
            <a:r>
              <a:rPr sz="1250" b="0" i="0">
                <a:solidFill>
                  <a:srgbClr val="F4F6F8"/>
                </a:solidFill>
                <a:latin typeface="Calibri"/>
              </a:rPr>
              <a:t>2 safe, 1 approval-gated</a:t>
            </a:r>
          </a:p>
        </p:txBody>
      </p:sp>
      <p:sp>
        <p:nvSpPr>
          <p:cNvPr id="9" name="TextBox 8"/>
          <p:cNvSpPr txBox="1"/>
          <p:nvPr/>
        </p:nvSpPr>
        <p:spPr>
          <a:xfrm>
            <a:off x="8869680" y="1554480"/>
            <a:ext cx="2651760" cy="914400"/>
          </a:xfrm>
          <a:prstGeom prst="rect">
            <a:avLst/>
          </a:prstGeom>
          <a:noFill/>
        </p:spPr>
        <p:txBody>
          <a:bodyPr wrap="square" lIns="0" rIns="0" tIns="0" bIns="0">
            <a:spAutoFit/>
          </a:bodyPr>
          <a:lstStyle/>
          <a:p>
            <a:pPr algn="ctr"/>
            <a:r>
              <a:rPr sz="4400" b="1" i="0">
                <a:solidFill>
                  <a:srgbClr val="02C39A"/>
                </a:solidFill>
                <a:latin typeface="Calibri"/>
              </a:rPr>
              <a:t>8/8</a:t>
            </a:r>
          </a:p>
        </p:txBody>
      </p:sp>
      <p:sp>
        <p:nvSpPr>
          <p:cNvPr id="10" name="TextBox 9"/>
          <p:cNvSpPr txBox="1"/>
          <p:nvPr/>
        </p:nvSpPr>
        <p:spPr>
          <a:xfrm>
            <a:off x="8869680" y="2514600"/>
            <a:ext cx="2651760" cy="822960"/>
          </a:xfrm>
          <a:prstGeom prst="rect">
            <a:avLst/>
          </a:prstGeom>
          <a:noFill/>
        </p:spPr>
        <p:txBody>
          <a:bodyPr wrap="square" lIns="0" rIns="0" tIns="0" bIns="0">
            <a:spAutoFit/>
          </a:bodyPr>
          <a:lstStyle/>
          <a:p>
            <a:pPr algn="ctr">
              <a:lnSpc>
                <a:spcPct val="120000"/>
              </a:lnSpc>
            </a:pPr>
            <a:r>
              <a:rPr sz="1250" b="0" i="0">
                <a:solidFill>
                  <a:srgbClr val="F4F6F8"/>
                </a:solidFill>
                <a:latin typeface="Calibri"/>
              </a:rPr>
              <a:t>misconfigs mapped to</a:t>
            </a:r>
          </a:p>
          <a:p>
            <a:pPr algn="ctr">
              <a:lnSpc>
                <a:spcPct val="120000"/>
              </a:lnSpc>
            </a:pPr>
            <a:r>
              <a:rPr sz="1250" b="0" i="0">
                <a:solidFill>
                  <a:srgbClr val="F4F6F8"/>
                </a:solidFill>
                <a:latin typeface="Calibri"/>
              </a:rPr>
              <a:t>ISO 27001 Annex A</a:t>
            </a:r>
          </a:p>
        </p:txBody>
      </p:sp>
      <p:sp>
        <p:nvSpPr>
          <p:cNvPr id="11" name="TextBox 10"/>
          <p:cNvSpPr txBox="1"/>
          <p:nvPr/>
        </p:nvSpPr>
        <p:spPr>
          <a:xfrm>
            <a:off x="640080" y="3566160"/>
            <a:ext cx="10515600" cy="457200"/>
          </a:xfrm>
          <a:prstGeom prst="rect">
            <a:avLst/>
          </a:prstGeom>
          <a:noFill/>
        </p:spPr>
        <p:txBody>
          <a:bodyPr wrap="square" lIns="0" rIns="0" tIns="0" bIns="0">
            <a:spAutoFit/>
          </a:bodyPr>
          <a:lstStyle/>
          <a:p>
            <a:pPr algn="l"/>
            <a:r>
              <a:rPr sz="1700" b="1" i="0">
                <a:solidFill>
                  <a:srgbClr val="02C39A"/>
                </a:solidFill>
                <a:latin typeface="Calibri"/>
              </a:rPr>
              <a:t>Central lesson:</a:t>
            </a:r>
          </a:p>
        </p:txBody>
      </p:sp>
      <p:sp>
        <p:nvSpPr>
          <p:cNvPr id="12" name="TextBox 11"/>
          <p:cNvSpPr txBox="1"/>
          <p:nvPr/>
        </p:nvSpPr>
        <p:spPr>
          <a:xfrm>
            <a:off x="640080" y="4023360"/>
            <a:ext cx="10881360" cy="1371600"/>
          </a:xfrm>
          <a:prstGeom prst="rect">
            <a:avLst/>
          </a:prstGeom>
          <a:noFill/>
        </p:spPr>
        <p:txBody>
          <a:bodyPr wrap="square" lIns="0" rIns="0" tIns="0" bIns="0">
            <a:spAutoFit/>
          </a:bodyPr>
          <a:lstStyle/>
          <a:p>
            <a:pPr algn="l">
              <a:lnSpc>
                <a:spcPct val="130000"/>
              </a:lnSpc>
            </a:pPr>
            <a:r>
              <a:rPr sz="1500" b="0" i="0">
                <a:solidFill>
                  <a:srgbClr val="FFFFFF"/>
                </a:solidFill>
                <a:latin typeface="Calibri"/>
              </a:rPr>
              <a:t>A misconfiguration being real and a misconfiguration being detected are two different claims. Verifying both independently — via raw check-by-check diffing, not summary percentages — surfaced genuine tool-coverage gaps and a genuine defense-in-depth result that a less rigorous approach would have missed.</a:t>
            </a:r>
          </a:p>
        </p:txBody>
      </p:sp>
      <p:sp>
        <p:nvSpPr>
          <p:cNvPr id="13" name="TextBox 12"/>
          <p:cNvSpPr txBox="1"/>
          <p:nvPr/>
        </p:nvSpPr>
        <p:spPr>
          <a:xfrm>
            <a:off x="640080" y="5760720"/>
            <a:ext cx="10515600" cy="548640"/>
          </a:xfrm>
          <a:prstGeom prst="rect">
            <a:avLst/>
          </a:prstGeom>
          <a:noFill/>
        </p:spPr>
        <p:txBody>
          <a:bodyPr wrap="square" lIns="0" rIns="0" tIns="0" bIns="0">
            <a:spAutoFit/>
          </a:bodyPr>
          <a:lstStyle/>
          <a:p>
            <a:pPr algn="l"/>
            <a:r>
              <a:rPr sz="2000" b="1" i="0">
                <a:solidFill>
                  <a:srgbClr val="02C39A"/>
                </a:solidFill>
                <a:latin typeface="Calibri"/>
              </a:rPr>
              <a:t>Thank you — questions?</a:t>
            </a:r>
          </a:p>
        </p:txBody>
      </p:sp>
      <p:sp>
        <p:nvSpPr>
          <p:cNvPr id="14" name="TextBox 13"/>
          <p:cNvSpPr txBox="1"/>
          <p:nvPr/>
        </p:nvSpPr>
        <p:spPr>
          <a:xfrm>
            <a:off x="11368735" y="6400800"/>
            <a:ext cx="548640" cy="274320"/>
          </a:xfrm>
          <a:prstGeom prst="rect">
            <a:avLst/>
          </a:prstGeom>
          <a:noFill/>
        </p:spPr>
        <p:txBody>
          <a:bodyPr wrap="square" lIns="0" rIns="0" tIns="0" bIns="0">
            <a:spAutoFit/>
          </a:bodyPr>
          <a:lstStyle/>
          <a:p>
            <a:pPr algn="r"/>
            <a:r>
              <a:rPr sz="1000" b="0" i="0">
                <a:solidFill>
                  <a:srgbClr val="FFFFFF"/>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